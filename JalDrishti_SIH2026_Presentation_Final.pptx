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3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sih_logo_perfec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73152"/>
            <a:ext cx="224028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32004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973835"/>
                </a:solidFill>
                <a:latin typeface="Calibri"/>
              </a:defRPr>
            </a:pPr>
            <a:r>
              <a:t>SMART INDIA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371600"/>
            <a:ext cx="6675120" cy="5118324"/>
          </a:xfrm>
          <a:prstGeom prst="rect">
            <a:avLst/>
          </a:prstGeom>
          <a:noFill/>
        </p:spPr>
        <p:txBody>
          <a:bodyPr wrap="square" tIns="73152" bIns="73152">
            <a:spAutoFit/>
          </a:bodyPr>
          <a:lstStyle/>
          <a:p>
            <a:pPr>
              <a:spcAft>
                <a:spcPts val="1100"/>
              </a:spcAft>
              <a:defRPr>
                <a:latin typeface="Calibri"/>
              </a:defRPr>
            </a:pPr>
            <a:r>
              <a:rPr sz="1550" b="1" dirty="0">
                <a:solidFill>
                  <a:srgbClr val="000000"/>
                </a:solidFill>
                <a:latin typeface="Arial"/>
              </a:rPr>
              <a:t>•  Problem Statement ID – </a:t>
            </a:r>
            <a:r>
              <a:rPr sz="1500" b="0" dirty="0">
                <a:solidFill>
                  <a:srgbClr val="1F2937"/>
                </a:solidFill>
                <a:latin typeface="Arial"/>
              </a:rPr>
              <a:t>SIH26031 / Open Innovation</a:t>
            </a:r>
          </a:p>
          <a:p>
            <a:pPr>
              <a:spcAft>
                <a:spcPts val="1100"/>
              </a:spcAft>
            </a:pPr>
            <a:r>
              <a:rPr sz="1550" b="1" dirty="0">
                <a:solidFill>
                  <a:srgbClr val="000000"/>
                </a:solidFill>
                <a:latin typeface="Arial"/>
              </a:rPr>
              <a:t>•  Problem Statement Title – </a:t>
            </a:r>
            <a:r>
              <a:rPr sz="1500" b="0" dirty="0" err="1">
                <a:solidFill>
                  <a:srgbClr val="1F2937"/>
                </a:solidFill>
                <a:latin typeface="Arial"/>
              </a:rPr>
              <a:t>JalDrishti</a:t>
            </a:r>
            <a:r>
              <a:rPr sz="1500" b="0" dirty="0">
                <a:solidFill>
                  <a:srgbClr val="1F2937"/>
                </a:solidFill>
                <a:latin typeface="Arial"/>
              </a:rPr>
              <a:t>: AI-Powered Geospatial Watershed Siting, Siltation Tracking &amp; Anti-Fraud Verification</a:t>
            </a:r>
          </a:p>
          <a:p>
            <a:pPr>
              <a:spcAft>
                <a:spcPts val="1100"/>
              </a:spcAft>
            </a:pPr>
            <a:r>
              <a:rPr sz="1550" b="1" dirty="0">
                <a:solidFill>
                  <a:srgbClr val="000000"/>
                </a:solidFill>
                <a:latin typeface="Arial"/>
              </a:rPr>
              <a:t>•  Theme – </a:t>
            </a:r>
            <a:r>
              <a:rPr sz="1500" b="0" dirty="0">
                <a:solidFill>
                  <a:srgbClr val="1F2937"/>
                </a:solidFill>
                <a:latin typeface="Arial"/>
              </a:rPr>
              <a:t>Agriculture, </a:t>
            </a:r>
            <a:r>
              <a:rPr sz="1500" b="0" dirty="0" err="1">
                <a:solidFill>
                  <a:srgbClr val="1F2937"/>
                </a:solidFill>
                <a:latin typeface="Arial"/>
              </a:rPr>
              <a:t>FoodTech</a:t>
            </a:r>
            <a:r>
              <a:rPr sz="1500" b="0" dirty="0">
                <a:solidFill>
                  <a:srgbClr val="1F2937"/>
                </a:solidFill>
                <a:latin typeface="Arial"/>
              </a:rPr>
              <a:t> &amp; Rural Development / Smart Automation</a:t>
            </a:r>
          </a:p>
          <a:p>
            <a:pPr>
              <a:spcAft>
                <a:spcPts val="1100"/>
              </a:spcAft>
            </a:pPr>
            <a:r>
              <a:rPr sz="1550" b="1" dirty="0">
                <a:solidFill>
                  <a:srgbClr val="000000"/>
                </a:solidFill>
                <a:latin typeface="Arial"/>
              </a:rPr>
              <a:t>•  PS Category – </a:t>
            </a:r>
            <a:r>
              <a:rPr sz="1500" b="0" dirty="0">
                <a:solidFill>
                  <a:srgbClr val="1F2937"/>
                </a:solidFill>
                <a:latin typeface="Arial"/>
              </a:rPr>
              <a:t>Software</a:t>
            </a:r>
          </a:p>
          <a:p>
            <a:pPr>
              <a:spcAft>
                <a:spcPts val="1100"/>
              </a:spcAft>
            </a:pPr>
            <a:r>
              <a:rPr sz="1550" b="1" dirty="0">
                <a:solidFill>
                  <a:srgbClr val="000000"/>
                </a:solidFill>
                <a:latin typeface="Arial"/>
              </a:rPr>
              <a:t>•  Team ID – </a:t>
            </a:r>
            <a:r>
              <a:rPr sz="1500" b="0" dirty="0">
                <a:solidFill>
                  <a:srgbClr val="1F2937"/>
                </a:solidFill>
                <a:latin typeface="Arial"/>
              </a:rPr>
              <a:t>T133</a:t>
            </a:r>
          </a:p>
          <a:p>
            <a:pPr>
              <a:spcAft>
                <a:spcPts val="1100"/>
              </a:spcAft>
            </a:pPr>
            <a:r>
              <a:rPr sz="1550" b="1" dirty="0">
                <a:solidFill>
                  <a:srgbClr val="000000"/>
                </a:solidFill>
                <a:latin typeface="Arial"/>
              </a:rPr>
              <a:t>•  Team Name – </a:t>
            </a:r>
            <a:r>
              <a:rPr sz="1500" b="0" dirty="0">
                <a:solidFill>
                  <a:srgbClr val="1F2937"/>
                </a:solidFill>
                <a:latin typeface="Arial"/>
              </a:rPr>
              <a:t>Innova8</a:t>
            </a:r>
            <a:endParaRPr lang="en-US" sz="1500" b="0" dirty="0">
              <a:solidFill>
                <a:srgbClr val="1F2937"/>
              </a:solidFill>
              <a:latin typeface="Arial"/>
            </a:endParaRPr>
          </a:p>
          <a:p>
            <a:pPr marL="285750" indent="-285750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lang="en-IN" sz="1500" b="1" dirty="0">
                <a:solidFill>
                  <a:srgbClr val="1F2937"/>
                </a:solidFill>
                <a:latin typeface="Arial"/>
              </a:rPr>
              <a:t>Team Members </a:t>
            </a:r>
          </a:p>
          <a:p>
            <a:pPr marL="285750" indent="-285750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lang="en-IN" sz="1500" dirty="0">
                <a:solidFill>
                  <a:srgbClr val="1F2937"/>
                </a:solidFill>
                <a:latin typeface="Arial"/>
              </a:rPr>
              <a:t>Karthik Prakash – 25070126088</a:t>
            </a:r>
          </a:p>
          <a:p>
            <a:pPr marL="285750" indent="-285750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lang="en-IN" sz="1500" b="0" dirty="0">
                <a:solidFill>
                  <a:srgbClr val="1F2937"/>
                </a:solidFill>
                <a:latin typeface="Arial"/>
              </a:rPr>
              <a:t>Kushal Shah - 25070125097</a:t>
            </a:r>
          </a:p>
          <a:p>
            <a:pPr marL="285750" indent="-285750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lang="en-IN" sz="1500" dirty="0">
                <a:solidFill>
                  <a:srgbClr val="1F2937"/>
                </a:solidFill>
                <a:latin typeface="Arial"/>
              </a:rPr>
              <a:t>Mannat Tanda - 25070126107</a:t>
            </a:r>
          </a:p>
          <a:p>
            <a:pPr marL="285750" indent="-285750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lang="en-IN" sz="1500" b="0" dirty="0">
                <a:solidFill>
                  <a:srgbClr val="1F2937"/>
                </a:solidFill>
                <a:latin typeface="Arial"/>
              </a:rPr>
              <a:t>Nirvan Joneja - 25070126117</a:t>
            </a:r>
          </a:p>
          <a:p>
            <a:pPr marL="285750" indent="-285750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lang="en-IN" sz="1500" dirty="0">
                <a:solidFill>
                  <a:srgbClr val="1F2937"/>
                </a:solidFill>
                <a:latin typeface="Arial"/>
              </a:rPr>
              <a:t>Siddhant Sinha - 25070123109</a:t>
            </a:r>
          </a:p>
          <a:p>
            <a:pPr marL="285750" indent="-285750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lang="en-IN" sz="1500" b="0" dirty="0">
                <a:solidFill>
                  <a:srgbClr val="1F2937"/>
                </a:solidFill>
                <a:latin typeface="Arial"/>
              </a:rPr>
              <a:t>Alisha Mittal - 25070126214</a:t>
            </a:r>
            <a:endParaRPr sz="1500" b="0" dirty="0">
              <a:solidFill>
                <a:srgbClr val="1F2937"/>
              </a:solidFill>
              <a:latin typeface="Arial"/>
            </a:endParaRPr>
          </a:p>
        </p:txBody>
      </p:sp>
      <p:pic>
        <p:nvPicPr>
          <p:cNvPr id="6" name="Picture 5" descr="bulb_perfec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828800"/>
            <a:ext cx="3749039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64224"/>
            <a:ext cx="12191999" cy="493776"/>
          </a:xfrm>
          <a:prstGeom prst="rect">
            <a:avLst/>
          </a:prstGeom>
          <a:solidFill>
            <a:srgbClr val="973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object 11">
            <a:extLst>
              <a:ext uri="{FF2B5EF4-FFF2-40B4-BE49-F238E27FC236}">
                <a16:creationId xmlns:a16="http://schemas.microsoft.com/office/drawing/2014/main" id="{5BF34AA6-0464-5921-305F-455208620853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47650" y="230678"/>
            <a:ext cx="876300" cy="86452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64224"/>
            <a:ext cx="12191999" cy="493776"/>
          </a:xfrm>
          <a:prstGeom prst="rect">
            <a:avLst/>
          </a:prstGeom>
          <a:solidFill>
            <a:srgbClr val="973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47120" y="6419088"/>
            <a:ext cx="731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pic>
        <p:nvPicPr>
          <p:cNvPr id="6" name="Picture 5" descr="sih_logo_perfec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73152"/>
            <a:ext cx="2240280" cy="1051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0" y="45720"/>
            <a:ext cx="7772400" cy="50292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>
              <a:defRPr sz="3400" b="1">
                <a:solidFill>
                  <a:srgbClr val="973835"/>
                </a:solidFill>
                <a:latin typeface="Calibri"/>
              </a:defRPr>
            </a:pPr>
            <a:r>
              <a:rPr sz="2200" b="1">
                <a:solidFill>
                  <a:srgbClr val="973835"/>
                </a:solidFill>
                <a:latin typeface="Arial"/>
              </a:rPr>
              <a:t>JALDRISHTI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30352"/>
            <a:ext cx="8686800" cy="41148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>
              <a:defRPr sz="1700" b="1">
                <a:solidFill>
                  <a:srgbClr val="973835"/>
                </a:solidFill>
                <a:latin typeface="Calibri"/>
              </a:defRPr>
            </a:pPr>
            <a:r>
              <a:rPr sz="1150" b="0">
                <a:solidFill>
                  <a:srgbClr val="4B5563"/>
                </a:solidFill>
                <a:latin typeface="Arial"/>
              </a:rPr>
              <a:t>AI-Powered Geospatial Watershed Intelligence &amp; Verification Platform for Water Security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51560"/>
            <a:ext cx="5486400" cy="457200"/>
          </a:xfrm>
          <a:prstGeom prst="roundRect">
            <a:avLst/>
          </a:prstGeom>
          <a:solidFill>
            <a:srgbClr val="C87A76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rPr sz="1200" b="1">
                <a:solidFill>
                  <a:srgbClr val="FFFFFF"/>
                </a:solidFill>
                <a:latin typeface="Arial"/>
              </a:rPr>
              <a:t>Our Solution</a:t>
            </a:r>
          </a:p>
        </p:txBody>
      </p:sp>
      <p:pic>
        <p:nvPicPr>
          <p:cNvPr id="10" name="Picture 9" descr="icon_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1664208"/>
            <a:ext cx="438912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4400" y="1627632"/>
            <a:ext cx="4937760" cy="406265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200" b="1" dirty="0">
                <a:solidFill>
                  <a:srgbClr val="1E3A8A"/>
                </a:solidFill>
                <a:latin typeface="Arial"/>
              </a:rPr>
              <a:t>Full-Viewport Vector GIS: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OpenFreeMap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sub-meter vector tile hydrology engine mapping micro-catchments &amp; Strahler streams.</a:t>
            </a:r>
          </a:p>
        </p:txBody>
      </p:sp>
      <p:pic>
        <p:nvPicPr>
          <p:cNvPr id="12" name="Picture 11" descr="icon_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2304288"/>
            <a:ext cx="438912" cy="438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14400" y="2267712"/>
            <a:ext cx="4937760" cy="406265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200" b="1" dirty="0">
                <a:solidFill>
                  <a:srgbClr val="1E3A8A"/>
                </a:solidFill>
                <a:latin typeface="Arial"/>
              </a:rPr>
              <a:t>AI Siting Optimizer: 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Automated DEM slope %, catchment ha &amp; runoff yield modeling for 0–100% check-dam suitability</a:t>
            </a:r>
            <a:r>
              <a:rPr sz="880" b="0" dirty="0">
                <a:solidFill>
                  <a:srgbClr val="1F2937"/>
                </a:solidFill>
                <a:latin typeface="Arial"/>
              </a:rPr>
              <a:t>.</a:t>
            </a:r>
          </a:p>
        </p:txBody>
      </p:sp>
      <p:pic>
        <p:nvPicPr>
          <p:cNvPr id="14" name="Picture 13" descr="icon_meas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2944367"/>
            <a:ext cx="438912" cy="438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14400" y="2907791"/>
            <a:ext cx="4937760" cy="406265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200" b="1" dirty="0">
                <a:solidFill>
                  <a:srgbClr val="1E3A8A"/>
                </a:solidFill>
                <a:latin typeface="Arial"/>
              </a:rPr>
              <a:t>Multi-Layer Neural Forensics: 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CMOS optical sensor Bayer noise &amp; EXIF integrity scanner to eliminate ghost infrastructure.</a:t>
            </a:r>
          </a:p>
        </p:txBody>
      </p:sp>
      <p:pic>
        <p:nvPicPr>
          <p:cNvPr id="16" name="Picture 15" descr="icon_repo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4048" y="3584448"/>
            <a:ext cx="438912" cy="4389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14400" y="3547872"/>
            <a:ext cx="4937760" cy="406265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200" b="1" dirty="0">
                <a:solidFill>
                  <a:srgbClr val="1E3A8A"/>
                </a:solidFill>
                <a:latin typeface="Arial"/>
              </a:rPr>
              <a:t>Live IoT Mesh &amp; Satellite: 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Real-time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LoRaWAN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/4G telemetry for groundwater &amp; silt alerts + Sentinel-2 5-season NDVI playback.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903669"/>
              </p:ext>
            </p:extLst>
          </p:nvPr>
        </p:nvGraphicFramePr>
        <p:xfrm>
          <a:off x="6126480" y="1051560"/>
          <a:ext cx="5669280" cy="31074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21792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973835"/>
                          </a:solidFill>
                          <a:latin typeface="Calibri"/>
                        </a:defRPr>
                      </a:pPr>
                      <a:r>
                        <a:rPr sz="950" b="1">
                          <a:solidFill>
                            <a:srgbClr val="973835"/>
                          </a:solidFill>
                          <a:latin typeface="Arial"/>
                        </a:rPr>
                        <a:t>Problem today</a:t>
                      </a:r>
                    </a:p>
                  </a:txBody>
                  <a:tcPr>
                    <a:solidFill>
                      <a:srgbClr val="FD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973835"/>
                          </a:solidFill>
                          <a:latin typeface="Calibri"/>
                        </a:defRPr>
                      </a:pPr>
                      <a:r>
                        <a:rPr sz="950" b="1">
                          <a:solidFill>
                            <a:srgbClr val="973835"/>
                          </a:solidFill>
                          <a:latin typeface="Arial"/>
                        </a:rPr>
                        <a:t>How our solution fixes it</a:t>
                      </a:r>
                    </a:p>
                  </a:txBody>
                  <a:tcPr>
                    <a:solidFill>
                      <a:srgbClr val="FD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Unscientific Siting: Check-dams placed by manual guesswork, failing to recharge water and prone to flash-flood washouts.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973835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973835"/>
                          </a:solidFill>
                          <a:latin typeface="Arial"/>
                        </a:rPr>
                        <a:t>AI Siting Optimizer: Algorithmic DEM slope %, drainage convergence &amp; soil permeability scoring for 100% recharge efficacy.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Ghost Infrastructure: Re-used &amp; synthetic photos claim milestone completion funds without genuine construction.</a:t>
                      </a:r>
                    </a:p>
                  </a:txBody>
                  <a:tcPr>
                    <a:solidFill>
                      <a:srgbClr val="FD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973835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973835"/>
                          </a:solidFill>
                          <a:latin typeface="Arial"/>
                        </a:rPr>
                        <a:t>Multi-Layer Neural Forensics: CMOS Bayer noise &amp; EXIF integrity audit flags fraudulent &amp; AI-generated photos instantly.</a:t>
                      </a:r>
                    </a:p>
                  </a:txBody>
                  <a:tcPr>
                    <a:solidFill>
                      <a:srgbClr val="FD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30–60 Day Paper Delays: Field inspection reports take months to reach Zilla Parishads, delaying fund clearance.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973835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973835"/>
                          </a:solidFill>
                          <a:latin typeface="Arial"/>
                        </a:rPr>
                        <a:t>Sub-Second IoT Telemetry: Real-time 4G/LoRaWAN groundwater depth &amp; ultrasonic silt sensors trigger instant alerts.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031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1F2937"/>
                          </a:solidFill>
                          <a:latin typeface="Arial"/>
                        </a:rPr>
                        <a:t>Unmeasured Impact: Lack of long-term post-monsoon vegetation growth and surface water spread tracking.</a:t>
                      </a:r>
                    </a:p>
                  </a:txBody>
                  <a:tcPr>
                    <a:solidFill>
                      <a:srgbClr val="FD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973835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973835"/>
                          </a:solidFill>
                          <a:latin typeface="Arial"/>
                        </a:rPr>
                        <a:t>Sentinel-2 Satellite Playback: 5-season multi-spectral NDVI biomass &amp; NDWI water spread analytics over time.</a:t>
                      </a:r>
                    </a:p>
                  </a:txBody>
                  <a:tcPr>
                    <a:solidFill>
                      <a:srgbClr val="FD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365760" y="4343400"/>
            <a:ext cx="2194560" cy="1874519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457200" y="4434840"/>
            <a:ext cx="2011680" cy="384048"/>
          </a:xfrm>
          <a:prstGeom prst="roundRect">
            <a:avLst/>
          </a:prstGeom>
          <a:solidFill>
            <a:srgbClr val="C8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rPr sz="850" b="1">
                <a:solidFill>
                  <a:srgbClr val="FFFFFF"/>
                </a:solidFill>
                <a:latin typeface="Arial"/>
              </a:rPr>
              <a:t>1. Catchment Ingestion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846320"/>
            <a:ext cx="2011680" cy="115108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350"/>
              </a:spcAft>
              <a:defRPr sz="1050">
                <a:solidFill>
                  <a:srgbClr val="212529"/>
                </a:solidFill>
                <a:latin typeface="Calibri"/>
              </a:defRPr>
            </a:pPr>
            <a:r>
              <a:rPr sz="800" b="0" dirty="0">
                <a:solidFill>
                  <a:srgbClr val="1F2937"/>
                </a:solidFill>
                <a:latin typeface="Arial"/>
              </a:rPr>
              <a:t>• </a:t>
            </a:r>
            <a:r>
              <a:rPr sz="1000" b="0" dirty="0">
                <a:solidFill>
                  <a:srgbClr val="1F2937"/>
                </a:solidFill>
                <a:latin typeface="Arial"/>
              </a:rPr>
              <a:t>Sub-meter vector basin delineation</a:t>
            </a:r>
          </a:p>
          <a:p>
            <a:pPr algn="l">
              <a:spcAft>
                <a:spcPts val="350"/>
              </a:spcAft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• Strahler 1st-3rd stream hierarchy</a:t>
            </a:r>
          </a:p>
          <a:p>
            <a:pPr algn="l">
              <a:spcAft>
                <a:spcPts val="350"/>
              </a:spcAft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• Topographical contour flow vectors</a:t>
            </a:r>
          </a:p>
          <a:p>
            <a:pPr algn="l">
              <a:spcAft>
                <a:spcPts val="350"/>
              </a:spcAft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• ISRO Bhuvan &amp; DEM layer sync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70048" y="4343400"/>
            <a:ext cx="2194560" cy="1874519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2761488" y="4434840"/>
            <a:ext cx="2011680" cy="384048"/>
          </a:xfrm>
          <a:prstGeom prst="roundRect">
            <a:avLst/>
          </a:prstGeom>
          <a:solidFill>
            <a:srgbClr val="C8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rPr sz="850" b="1">
                <a:solidFill>
                  <a:srgbClr val="FFFFFF"/>
                </a:solidFill>
                <a:latin typeface="Arial"/>
              </a:rPr>
              <a:t>2. AI Siting Optimization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61488" y="4846320"/>
            <a:ext cx="2011680" cy="1304973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350"/>
              </a:spcAft>
              <a:defRPr sz="1050">
                <a:solidFill>
                  <a:srgbClr val="212529"/>
                </a:solidFill>
                <a:latin typeface="Calibri"/>
              </a:defRPr>
            </a:pPr>
            <a:r>
              <a:rPr sz="800" b="0" dirty="0">
                <a:solidFill>
                  <a:srgbClr val="1F2937"/>
                </a:solidFill>
                <a:latin typeface="Arial"/>
              </a:rPr>
              <a:t>• Al</a:t>
            </a:r>
            <a:r>
              <a:rPr sz="1000" b="0" dirty="0">
                <a:solidFill>
                  <a:srgbClr val="1F2937"/>
                </a:solidFill>
                <a:latin typeface="Arial"/>
              </a:rPr>
              <a:t>gorithmic 3%-12% slope gradient</a:t>
            </a:r>
          </a:p>
          <a:p>
            <a:pPr algn="l">
              <a:spcAft>
                <a:spcPts val="350"/>
              </a:spcAft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• SCS-CN seasonal runoff yield volume</a:t>
            </a:r>
          </a:p>
          <a:p>
            <a:pPr algn="l">
              <a:spcAft>
                <a:spcPts val="350"/>
              </a:spcAft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• Soil permeability &amp; aquifer recharge</a:t>
            </a:r>
          </a:p>
          <a:p>
            <a:pPr algn="l">
              <a:spcAft>
                <a:spcPts val="350"/>
              </a:spcAft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• Instant 0-100% suitability rating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74336" y="4343400"/>
            <a:ext cx="2194560" cy="1874519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5065776" y="4434840"/>
            <a:ext cx="2011680" cy="384048"/>
          </a:xfrm>
          <a:prstGeom prst="roundRect">
            <a:avLst/>
          </a:prstGeom>
          <a:solidFill>
            <a:srgbClr val="C8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rPr sz="850" b="1">
                <a:solidFill>
                  <a:srgbClr val="FFFFFF"/>
                </a:solidFill>
                <a:latin typeface="Arial"/>
              </a:rPr>
              <a:t>3. Field Evidence Capture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65776" y="4846320"/>
            <a:ext cx="2011680" cy="115108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350"/>
              </a:spcAft>
              <a:defRPr sz="1050">
                <a:solidFill>
                  <a:srgbClr val="212529"/>
                </a:solidFill>
                <a:latin typeface="Calibri"/>
              </a:defRPr>
            </a:pPr>
            <a:r>
              <a:rPr sz="800" b="0" dirty="0">
                <a:solidFill>
                  <a:srgbClr val="1F2937"/>
                </a:solidFill>
                <a:latin typeface="Arial"/>
              </a:rPr>
              <a:t>• </a:t>
            </a:r>
            <a:r>
              <a:rPr sz="1000" b="0" dirty="0">
                <a:solidFill>
                  <a:srgbClr val="1F2937"/>
                </a:solidFill>
                <a:latin typeface="Arial"/>
              </a:rPr>
              <a:t>Mobile geo-tagged photo capture</a:t>
            </a:r>
          </a:p>
          <a:p>
            <a:pPr algn="l">
              <a:spcAft>
                <a:spcPts val="350"/>
              </a:spcAft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• Client-side SHA-256 tamper hash</a:t>
            </a:r>
          </a:p>
          <a:p>
            <a:pPr algn="l">
              <a:spcAft>
                <a:spcPts val="350"/>
              </a:spcAft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• Hardware EXIF &amp; GPS metadata lock</a:t>
            </a:r>
          </a:p>
          <a:p>
            <a:pPr algn="l">
              <a:spcAft>
                <a:spcPts val="350"/>
              </a:spcAft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• Offline-first local storage sync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78624" y="4343400"/>
            <a:ext cx="2194560" cy="1874519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7370064" y="4434840"/>
            <a:ext cx="2011680" cy="384048"/>
          </a:xfrm>
          <a:prstGeom prst="roundRect">
            <a:avLst/>
          </a:prstGeom>
          <a:solidFill>
            <a:srgbClr val="C8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rPr sz="850" b="1">
                <a:solidFill>
                  <a:srgbClr val="FFFFFF"/>
                </a:solidFill>
                <a:latin typeface="Arial"/>
              </a:rPr>
              <a:t>4. Neural AI Forensics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0064" y="4846320"/>
            <a:ext cx="2011680" cy="1458861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350"/>
              </a:spcAft>
              <a:defRPr sz="1050">
                <a:solidFill>
                  <a:srgbClr val="212529"/>
                </a:solidFill>
                <a:latin typeface="Calibri"/>
              </a:defRPr>
            </a:pPr>
            <a:r>
              <a:rPr sz="800" b="0" dirty="0">
                <a:solidFill>
                  <a:srgbClr val="1F2937"/>
                </a:solidFill>
                <a:latin typeface="Arial"/>
              </a:rPr>
              <a:t>• </a:t>
            </a:r>
            <a:r>
              <a:rPr sz="1000" b="0" dirty="0">
                <a:solidFill>
                  <a:srgbClr val="1F2937"/>
                </a:solidFill>
                <a:latin typeface="Arial"/>
              </a:rPr>
              <a:t>CMOS Bayer photon noise analysis</a:t>
            </a:r>
          </a:p>
          <a:p>
            <a:pPr algn="l">
              <a:spcAft>
                <a:spcPts val="350"/>
              </a:spcAft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• Optical diffusion anomaly detection</a:t>
            </a:r>
          </a:p>
          <a:p>
            <a:pPr algn="l">
              <a:spcAft>
                <a:spcPts val="350"/>
              </a:spcAft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• Forensic PRNU sensor fingerprint</a:t>
            </a:r>
          </a:p>
          <a:p>
            <a:pPr algn="l">
              <a:spcAft>
                <a:spcPts val="350"/>
              </a:spcAft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• Automated duplicate photo prevention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82912" y="4343400"/>
            <a:ext cx="2194560" cy="1874519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9674352" y="4434840"/>
            <a:ext cx="2011680" cy="384048"/>
          </a:xfrm>
          <a:prstGeom prst="roundRect">
            <a:avLst/>
          </a:prstGeom>
          <a:solidFill>
            <a:srgbClr val="C8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rPr sz="850" b="1">
                <a:solidFill>
                  <a:srgbClr val="FFFFFF"/>
                </a:solidFill>
                <a:latin typeface="Arial"/>
              </a:rPr>
              <a:t>5. Milestone Fund &amp; IoT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74352" y="4846320"/>
            <a:ext cx="2011680" cy="1458861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350"/>
              </a:spcAft>
              <a:defRPr sz="1050">
                <a:solidFill>
                  <a:srgbClr val="212529"/>
                </a:solidFill>
                <a:latin typeface="Calibri"/>
              </a:defRPr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• Cryptographic certificate fund trigger</a:t>
            </a:r>
          </a:p>
          <a:p>
            <a:pPr algn="l">
              <a:spcAft>
                <a:spcPts val="350"/>
              </a:spcAft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• Continuous </a:t>
            </a:r>
            <a:r>
              <a:rPr sz="1000" b="0" dirty="0" err="1">
                <a:solidFill>
                  <a:srgbClr val="1F2937"/>
                </a:solidFill>
                <a:latin typeface="Arial"/>
              </a:rPr>
              <a:t>LoRaWAN</a:t>
            </a:r>
            <a:r>
              <a:rPr sz="1000" b="0" dirty="0">
                <a:solidFill>
                  <a:srgbClr val="1F2937"/>
                </a:solidFill>
                <a:latin typeface="Arial"/>
              </a:rPr>
              <a:t> water telemetry</a:t>
            </a:r>
          </a:p>
          <a:p>
            <a:pPr algn="l">
              <a:spcAft>
                <a:spcPts val="350"/>
              </a:spcAft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• Real-time ultrasonic silt level alerts</a:t>
            </a:r>
          </a:p>
          <a:p>
            <a:pPr algn="l">
              <a:spcAft>
                <a:spcPts val="350"/>
              </a:spcAft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• Public Gram Panchayat audit dossier</a:t>
            </a:r>
          </a:p>
        </p:txBody>
      </p:sp>
      <p:pic>
        <p:nvPicPr>
          <p:cNvPr id="35" name="object 11">
            <a:extLst>
              <a:ext uri="{FF2B5EF4-FFF2-40B4-BE49-F238E27FC236}">
                <a16:creationId xmlns:a16="http://schemas.microsoft.com/office/drawing/2014/main" id="{A1EFDAFB-6082-2913-C8F5-32EBF1425E02}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6200" y="15632"/>
            <a:ext cx="876300" cy="86452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ih_logo_perfec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73152"/>
            <a:ext cx="224028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182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973835"/>
                </a:solidFill>
                <a:latin typeface="Calibri"/>
              </a:defRPr>
            </a:pPr>
            <a:r>
              <a:t>TECHNICAL APPROACH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64224"/>
            <a:ext cx="12191999" cy="493776"/>
          </a:xfrm>
          <a:prstGeom prst="rect">
            <a:avLst/>
          </a:prstGeom>
          <a:solidFill>
            <a:srgbClr val="973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731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Calibri"/>
              </a:defRPr>
            </a:pPr>
            <a:r>
              <a:t>Tech Stack -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463040"/>
            <a:ext cx="2468880" cy="530352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>
              <a:defRPr sz="1100" b="1">
                <a:solidFill>
                  <a:srgbClr val="973835"/>
                </a:solidFill>
                <a:latin typeface="Calibri"/>
              </a:defRPr>
            </a:pPr>
            <a:r>
              <a:rPr sz="850" b="1">
                <a:solidFill>
                  <a:srgbClr val="973835"/>
                </a:solidFill>
                <a:latin typeface="Arial"/>
              </a:rPr>
              <a:t>Vanilla JS / HTML5 / Tailwind</a:t>
            </a:r>
          </a:p>
          <a:p>
            <a:pPr algn="ctr">
              <a:spcBef>
                <a:spcPts val="200"/>
              </a:spcBef>
            </a:pPr>
            <a:r>
              <a:rPr sz="720" b="0">
                <a:solidFill>
                  <a:srgbClr val="4B5563"/>
                </a:solidFill>
                <a:latin typeface="Arial"/>
              </a:rPr>
              <a:t>GIS Command Cockpit &amp; Field Mobile PWA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057400"/>
            <a:ext cx="2468880" cy="530352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>
              <a:defRPr sz="1100" b="1">
                <a:solidFill>
                  <a:srgbClr val="973835"/>
                </a:solidFill>
                <a:latin typeface="Calibri"/>
              </a:defRPr>
            </a:pPr>
            <a:r>
              <a:rPr sz="850" b="1">
                <a:solidFill>
                  <a:srgbClr val="973835"/>
                </a:solidFill>
                <a:latin typeface="Arial"/>
              </a:rPr>
              <a:t>OpenFreeMap / MapLibre GL</a:t>
            </a:r>
          </a:p>
          <a:p>
            <a:pPr algn="ctr">
              <a:spcBef>
                <a:spcPts val="200"/>
              </a:spcBef>
            </a:pPr>
            <a:r>
              <a:rPr sz="720" b="0">
                <a:solidFill>
                  <a:srgbClr val="4B5563"/>
                </a:solidFill>
                <a:latin typeface="Arial"/>
              </a:rPr>
              <a:t>Sub-Meter Vector Tile Hydrology Engine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651760"/>
            <a:ext cx="2468880" cy="530352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>
              <a:defRPr sz="1100" b="1">
                <a:solidFill>
                  <a:srgbClr val="973835"/>
                </a:solidFill>
                <a:latin typeface="Calibri"/>
              </a:defRPr>
            </a:pPr>
            <a:r>
              <a:rPr sz="850" b="1">
                <a:solidFill>
                  <a:srgbClr val="973835"/>
                </a:solidFill>
                <a:latin typeface="Arial"/>
              </a:rPr>
              <a:t>Leaflet.js &amp; Chart.js</a:t>
            </a:r>
          </a:p>
          <a:p>
            <a:pPr algn="ctr">
              <a:spcBef>
                <a:spcPts val="200"/>
              </a:spcBef>
            </a:pPr>
            <a:r>
              <a:rPr sz="720" b="0">
                <a:solidFill>
                  <a:srgbClr val="4B5563"/>
                </a:solidFill>
                <a:latin typeface="Arial"/>
              </a:rPr>
              <a:t>Interactive GIS Layers &amp; Live Telemetry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3246120"/>
            <a:ext cx="2468880" cy="530352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>
              <a:defRPr sz="1100" b="1">
                <a:solidFill>
                  <a:srgbClr val="973835"/>
                </a:solidFill>
                <a:latin typeface="Calibri"/>
              </a:defRPr>
            </a:pPr>
            <a:r>
              <a:rPr sz="850" b="1">
                <a:solidFill>
                  <a:srgbClr val="973835"/>
                </a:solidFill>
                <a:latin typeface="Arial"/>
              </a:rPr>
              <a:t>PyTorch / OpenCV</a:t>
            </a:r>
          </a:p>
          <a:p>
            <a:pPr algn="ctr">
              <a:spcBef>
                <a:spcPts val="200"/>
              </a:spcBef>
            </a:pPr>
            <a:r>
              <a:rPr sz="720" b="0">
                <a:solidFill>
                  <a:srgbClr val="4B5563"/>
                </a:solidFill>
                <a:latin typeface="Arial"/>
              </a:rPr>
              <a:t>CMOS Bayer Sensor Noise &amp; Forensics Engine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840480"/>
            <a:ext cx="2468880" cy="530352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>
              <a:defRPr sz="1100" b="1">
                <a:solidFill>
                  <a:srgbClr val="973835"/>
                </a:solidFill>
                <a:latin typeface="Calibri"/>
              </a:defRPr>
            </a:pPr>
            <a:r>
              <a:rPr sz="850" b="1">
                <a:solidFill>
                  <a:srgbClr val="973835"/>
                </a:solidFill>
                <a:latin typeface="Arial"/>
              </a:rPr>
              <a:t>DEM Hydro-Solver Engine</a:t>
            </a:r>
          </a:p>
          <a:p>
            <a:pPr algn="ctr">
              <a:spcBef>
                <a:spcPts val="200"/>
              </a:spcBef>
            </a:pPr>
            <a:r>
              <a:rPr sz="720" b="0">
                <a:solidFill>
                  <a:srgbClr val="4B5563"/>
                </a:solidFill>
                <a:latin typeface="Arial"/>
              </a:rPr>
              <a:t>Automated SCS-CN Runoff &amp; Siting Algorithm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434840"/>
            <a:ext cx="2468880" cy="530352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>
              <a:defRPr sz="1100" b="1">
                <a:solidFill>
                  <a:srgbClr val="973835"/>
                </a:solidFill>
                <a:latin typeface="Calibri"/>
              </a:defRPr>
            </a:pPr>
            <a:r>
              <a:rPr sz="850" b="1">
                <a:solidFill>
                  <a:srgbClr val="973835"/>
                </a:solidFill>
                <a:latin typeface="Arial"/>
              </a:rPr>
              <a:t>LoRaWAN &amp; 4G LTE-M</a:t>
            </a:r>
          </a:p>
          <a:p>
            <a:pPr algn="ctr">
              <a:spcBef>
                <a:spcPts val="200"/>
              </a:spcBef>
            </a:pPr>
            <a:r>
              <a:rPr sz="720" b="0">
                <a:solidFill>
                  <a:srgbClr val="4B5563"/>
                </a:solidFill>
                <a:latin typeface="Arial"/>
              </a:rPr>
              <a:t>Solar Micro-RTU Groundwater &amp; Silt Mesh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5029200"/>
            <a:ext cx="2468880" cy="530352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>
              <a:defRPr sz="1100" b="1">
                <a:solidFill>
                  <a:srgbClr val="973835"/>
                </a:solidFill>
                <a:latin typeface="Calibri"/>
              </a:defRPr>
            </a:pPr>
            <a:r>
              <a:rPr sz="850" b="1">
                <a:solidFill>
                  <a:srgbClr val="973835"/>
                </a:solidFill>
                <a:latin typeface="Arial"/>
              </a:rPr>
              <a:t>Sentinel-2 MSI (ESA)</a:t>
            </a:r>
          </a:p>
          <a:p>
            <a:pPr algn="ctr">
              <a:spcBef>
                <a:spcPts val="200"/>
              </a:spcBef>
            </a:pPr>
            <a:r>
              <a:rPr sz="720" b="0">
                <a:solidFill>
                  <a:srgbClr val="4B5563"/>
                </a:solidFill>
                <a:latin typeface="Arial"/>
              </a:rPr>
              <a:t>5-Season Multi-Spectral NDVI / NDWI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" y="5623560"/>
            <a:ext cx="2468880" cy="530352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>
              <a:defRPr sz="1100" b="1">
                <a:solidFill>
                  <a:srgbClr val="973835"/>
                </a:solidFill>
                <a:latin typeface="Calibri"/>
              </a:defRPr>
            </a:pPr>
            <a:r>
              <a:rPr sz="850" b="1" dirty="0">
                <a:solidFill>
                  <a:srgbClr val="973835"/>
                </a:solidFill>
                <a:latin typeface="Arial"/>
              </a:rPr>
              <a:t>SHA-256 &amp; EXIF Digest</a:t>
            </a:r>
          </a:p>
          <a:p>
            <a:pPr algn="ctr">
              <a:spcBef>
                <a:spcPts val="200"/>
              </a:spcBef>
            </a:pPr>
            <a:r>
              <a:rPr sz="720" b="0" dirty="0">
                <a:solidFill>
                  <a:srgbClr val="4B5563"/>
                </a:solidFill>
                <a:latin typeface="Arial"/>
              </a:rPr>
              <a:t>Tamper-Proof Audit Certificate Cryptography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17520" y="1097280"/>
            <a:ext cx="6217920" cy="2423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35F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3154680" y="1188720"/>
            <a:ext cx="5943600" cy="411480"/>
          </a:xfrm>
          <a:prstGeom prst="roundRect">
            <a:avLst/>
          </a:prstGeom>
          <a:solidFill>
            <a:srgbClr val="235F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sz="919" b="1">
                <a:solidFill>
                  <a:srgbClr val="FFFFFF"/>
                </a:solidFill>
                <a:latin typeface="Arial"/>
              </a:rPr>
              <a:t>1   Approach 1 – Vector GIS Hydrology &amp; AI Siting Optimization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54680" y="1691640"/>
            <a:ext cx="1417320" cy="1691640"/>
          </a:xfrm>
          <a:prstGeom prst="roundRect">
            <a:avLst/>
          </a:prstGeom>
          <a:solidFill>
            <a:srgbClr val="F0F6FF"/>
          </a:solidFill>
          <a:ln w="12700">
            <a:solidFill>
              <a:srgbClr val="235F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200"/>
              </a:spcAft>
              <a:defRPr sz="1100" b="1">
                <a:solidFill>
                  <a:srgbClr val="235FAF"/>
                </a:solidFill>
                <a:latin typeface="Calibri"/>
              </a:defRPr>
            </a:pPr>
            <a:r>
              <a:rPr sz="1000" b="1" dirty="0">
                <a:solidFill>
                  <a:srgbClr val="1E3A8A"/>
                </a:solidFill>
                <a:latin typeface="Arial"/>
              </a:rPr>
              <a:t>Catchment Ingestion</a:t>
            </a:r>
          </a:p>
          <a:p>
            <a:pPr algn="ctr">
              <a:spcAft>
                <a:spcPts val="150"/>
              </a:spcAft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• Sub-meter vector basin polygon mapping</a:t>
            </a:r>
          </a:p>
          <a:p>
            <a:pPr algn="ctr">
              <a:spcAft>
                <a:spcPts val="150"/>
              </a:spcAft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• Strahler 1st-3rd stream hierarchy</a:t>
            </a:r>
          </a:p>
          <a:p>
            <a:pPr algn="ctr">
              <a:spcAft>
                <a:spcPts val="150"/>
              </a:spcAft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• Multi-source elevation data fusion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1691640"/>
            <a:ext cx="1417320" cy="1691640"/>
          </a:xfrm>
          <a:prstGeom prst="roundRect">
            <a:avLst/>
          </a:prstGeom>
          <a:solidFill>
            <a:srgbClr val="F0F6FF"/>
          </a:solidFill>
          <a:ln w="12700">
            <a:solidFill>
              <a:srgbClr val="235F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200"/>
              </a:spcAft>
              <a:defRPr sz="1100" b="1">
                <a:solidFill>
                  <a:srgbClr val="235FAF"/>
                </a:solidFill>
                <a:latin typeface="Calibri"/>
              </a:defRPr>
            </a:pPr>
            <a:r>
              <a:rPr sz="1000" b="1" dirty="0">
                <a:solidFill>
                  <a:srgbClr val="1E3A8A"/>
                </a:solidFill>
                <a:latin typeface="Arial"/>
              </a:rPr>
              <a:t>DEM Slope Gradient</a:t>
            </a:r>
          </a:p>
          <a:p>
            <a:pPr algn="ctr">
              <a:spcAft>
                <a:spcPts val="150"/>
              </a:spcAft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• Automated DEM contour slope calculation</a:t>
            </a:r>
          </a:p>
          <a:p>
            <a:pPr algn="ctr">
              <a:spcAft>
                <a:spcPts val="150"/>
              </a:spcAft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• Identifies ideal 3%-12% check-dam slope</a:t>
            </a:r>
          </a:p>
          <a:p>
            <a:pPr algn="ctr">
              <a:spcAft>
                <a:spcPts val="150"/>
              </a:spcAft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• Prevents foundation erosion &amp; collapse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17336" y="1691640"/>
            <a:ext cx="1417320" cy="1691640"/>
          </a:xfrm>
          <a:prstGeom prst="roundRect">
            <a:avLst/>
          </a:prstGeom>
          <a:solidFill>
            <a:srgbClr val="F0F6FF"/>
          </a:solidFill>
          <a:ln w="12700">
            <a:solidFill>
              <a:srgbClr val="235F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200"/>
              </a:spcAft>
              <a:defRPr sz="1100" b="1">
                <a:solidFill>
                  <a:srgbClr val="235FAF"/>
                </a:solidFill>
                <a:latin typeface="Calibri"/>
              </a:defRPr>
            </a:pPr>
            <a:r>
              <a:rPr sz="1000" b="1" dirty="0">
                <a:solidFill>
                  <a:srgbClr val="1E3A8A"/>
                </a:solidFill>
                <a:latin typeface="Arial"/>
              </a:rPr>
              <a:t>SCS-CN Runoff Model</a:t>
            </a:r>
          </a:p>
          <a:p>
            <a:pPr algn="ctr">
              <a:spcAft>
                <a:spcPts val="150"/>
              </a:spcAft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• Estimates max potential soil retention</a:t>
            </a:r>
          </a:p>
          <a:p>
            <a:pPr algn="ctr">
              <a:spcAft>
                <a:spcPts val="150"/>
              </a:spcAft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• Computes seasonal runoff yield volume</a:t>
            </a:r>
          </a:p>
          <a:p>
            <a:pPr algn="ctr">
              <a:spcAft>
                <a:spcPts val="150"/>
              </a:spcAft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• Calculates peak monsoon water capacity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98664" y="1691640"/>
            <a:ext cx="1417320" cy="1691640"/>
          </a:xfrm>
          <a:prstGeom prst="roundRect">
            <a:avLst/>
          </a:prstGeom>
          <a:solidFill>
            <a:srgbClr val="F0F6FF"/>
          </a:solidFill>
          <a:ln w="12700">
            <a:solidFill>
              <a:srgbClr val="235F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200"/>
              </a:spcAft>
              <a:defRPr sz="1100" b="1">
                <a:solidFill>
                  <a:srgbClr val="235FAF"/>
                </a:solidFill>
                <a:latin typeface="Calibri"/>
              </a:defRPr>
            </a:pPr>
            <a:r>
              <a:rPr sz="1000" b="1" dirty="0">
                <a:solidFill>
                  <a:srgbClr val="1E3A8A"/>
                </a:solidFill>
                <a:latin typeface="Arial"/>
              </a:rPr>
              <a:t>Algorithmic Verdict</a:t>
            </a:r>
          </a:p>
          <a:p>
            <a:pPr algn="ctr">
              <a:spcAft>
                <a:spcPts val="150"/>
              </a:spcAft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• Instant 0-100% suitability rating score</a:t>
            </a:r>
          </a:p>
          <a:p>
            <a:pPr algn="ctr">
              <a:spcAft>
                <a:spcPts val="150"/>
              </a:spcAft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• Optimal check-dam dimension &amp; masonry</a:t>
            </a:r>
          </a:p>
          <a:p>
            <a:pPr algn="ctr">
              <a:spcAft>
                <a:spcPts val="150"/>
              </a:spcAft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• Recommends water storage capacity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017520" y="3703320"/>
            <a:ext cx="6217920" cy="2423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38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3154680" y="3794760"/>
            <a:ext cx="5943600" cy="411480"/>
          </a:xfrm>
          <a:prstGeom prst="roundRect">
            <a:avLst/>
          </a:prstGeom>
          <a:solidFill>
            <a:srgbClr val="238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sz="919" b="1">
                <a:solidFill>
                  <a:srgbClr val="FFFFFF"/>
                </a:solidFill>
                <a:latin typeface="Arial"/>
              </a:rPr>
              <a:t>2   Approach 2 – Multi-Layer Neural AI Forensics &amp; IoT Telemetry Mesh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154680" y="4297680"/>
            <a:ext cx="1417320" cy="16916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238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200"/>
              </a:spcAft>
              <a:defRPr sz="1100" b="1">
                <a:solidFill>
                  <a:srgbClr val="238741"/>
                </a:solidFill>
                <a:latin typeface="Calibri"/>
              </a:defRPr>
            </a:pPr>
            <a:r>
              <a:rPr sz="1000" b="1" dirty="0">
                <a:solidFill>
                  <a:srgbClr val="14532D"/>
                </a:solidFill>
                <a:latin typeface="Arial"/>
              </a:rPr>
              <a:t>Optical Noise Check</a:t>
            </a:r>
          </a:p>
          <a:p>
            <a:pPr algn="ctr">
              <a:spcAft>
                <a:spcPts val="150"/>
              </a:spcAft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• High-frequency CMOS photon noise audit</a:t>
            </a:r>
          </a:p>
          <a:p>
            <a:pPr algn="ctr">
              <a:spcAft>
                <a:spcPts val="150"/>
              </a:spcAft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• Extracts PRNU sensor fingerprint</a:t>
            </a:r>
          </a:p>
          <a:p>
            <a:pPr algn="ctr">
              <a:spcAft>
                <a:spcPts val="150"/>
              </a:spcAft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• Distinguishes real cameras from AI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36008" y="4297680"/>
            <a:ext cx="1417320" cy="16916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238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200"/>
              </a:spcAft>
              <a:defRPr sz="1100" b="1">
                <a:solidFill>
                  <a:srgbClr val="238741"/>
                </a:solidFill>
                <a:latin typeface="Calibri"/>
              </a:defRPr>
            </a:pPr>
            <a:r>
              <a:rPr sz="1000" b="1" dirty="0">
                <a:solidFill>
                  <a:srgbClr val="14532D"/>
                </a:solidFill>
                <a:latin typeface="Arial"/>
              </a:rPr>
              <a:t>EXIF Cryptography</a:t>
            </a:r>
          </a:p>
          <a:p>
            <a:pPr algn="ctr">
              <a:spcAft>
                <a:spcPts val="150"/>
              </a:spcAft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• Validates GPS timestamp &amp; focal length</a:t>
            </a:r>
          </a:p>
          <a:p>
            <a:pPr algn="ctr">
              <a:spcAft>
                <a:spcPts val="150"/>
              </a:spcAft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• SHA-256 tamper-proof payload digest</a:t>
            </a:r>
          </a:p>
          <a:p>
            <a:pPr algn="ctr">
              <a:spcAft>
                <a:spcPts val="150"/>
              </a:spcAft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• Cross-checks hardware lens signature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17336" y="4297680"/>
            <a:ext cx="1417320" cy="16916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238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200"/>
              </a:spcAft>
              <a:defRPr sz="1100" b="1">
                <a:solidFill>
                  <a:srgbClr val="238741"/>
                </a:solidFill>
                <a:latin typeface="Calibri"/>
              </a:defRPr>
            </a:pPr>
            <a:r>
              <a:rPr sz="1000" b="1" dirty="0" err="1">
                <a:solidFill>
                  <a:srgbClr val="14532D"/>
                </a:solidFill>
                <a:latin typeface="Arial"/>
              </a:rPr>
              <a:t>LoRaWAN</a:t>
            </a:r>
            <a:r>
              <a:rPr sz="1000" b="1" dirty="0">
                <a:solidFill>
                  <a:srgbClr val="14532D"/>
                </a:solidFill>
                <a:latin typeface="Arial"/>
              </a:rPr>
              <a:t> Sensor Mesh</a:t>
            </a:r>
          </a:p>
          <a:p>
            <a:pPr algn="ctr">
              <a:spcAft>
                <a:spcPts val="150"/>
              </a:spcAft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• Solar Micro-RTU submerged sensor probes</a:t>
            </a:r>
          </a:p>
          <a:p>
            <a:pPr algn="ctr">
              <a:spcAft>
                <a:spcPts val="150"/>
              </a:spcAft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• Sub-second groundwater elevation tracking</a:t>
            </a:r>
          </a:p>
          <a:p>
            <a:pPr algn="ctr">
              <a:spcAft>
                <a:spcPts val="150"/>
              </a:spcAft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• Ultrasonic silt level &amp; soil moisture alerts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98664" y="4297680"/>
            <a:ext cx="1417320" cy="16916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238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200"/>
              </a:spcAft>
              <a:defRPr sz="1100" b="1">
                <a:solidFill>
                  <a:srgbClr val="238741"/>
                </a:solidFill>
                <a:latin typeface="Calibri"/>
              </a:defRPr>
            </a:pPr>
            <a:r>
              <a:rPr sz="1000" b="1" dirty="0">
                <a:solidFill>
                  <a:srgbClr val="14532D"/>
                </a:solidFill>
                <a:latin typeface="Arial"/>
              </a:rPr>
              <a:t>Satellite Playback</a:t>
            </a:r>
          </a:p>
          <a:p>
            <a:pPr algn="ctr">
              <a:spcAft>
                <a:spcPts val="150"/>
              </a:spcAft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• Sentinel-2 MSI 10m multi-spectral imagery</a:t>
            </a:r>
          </a:p>
          <a:p>
            <a:pPr algn="ctr">
              <a:spcAft>
                <a:spcPts val="150"/>
              </a:spcAft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• 5-season NDVI green biomass timeline</a:t>
            </a:r>
          </a:p>
          <a:p>
            <a:pPr algn="ctr">
              <a:spcAft>
                <a:spcPts val="150"/>
              </a:spcAft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• NDWI surface water spread verification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418320" y="1097280"/>
            <a:ext cx="2468880" cy="5029200"/>
          </a:xfrm>
          <a:prstGeom prst="roundRect">
            <a:avLst/>
          </a:prstGeom>
          <a:solidFill>
            <a:srgbClr val="FDF5F5"/>
          </a:solidFill>
          <a:ln w="1905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9555480" y="1234440"/>
            <a:ext cx="2194560" cy="411480"/>
          </a:xfrm>
          <a:prstGeom prst="roundRect">
            <a:avLst/>
          </a:prstGeom>
          <a:solidFill>
            <a:srgbClr val="973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sz="919" b="1">
                <a:solidFill>
                  <a:srgbClr val="FFFFFF"/>
                </a:solidFill>
                <a:latin typeface="Arial"/>
              </a:rPr>
              <a:t>Final Output: GIS Command Cockpit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55480" y="1783080"/>
            <a:ext cx="21945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>
              <a:defRPr sz="1050" b="1">
                <a:solidFill>
                  <a:srgbClr val="973835"/>
                </a:solidFill>
                <a:latin typeface="Calibri"/>
              </a:defRPr>
            </a:pPr>
            <a:r>
              <a:rPr sz="1000" b="1" dirty="0">
                <a:solidFill>
                  <a:srgbClr val="973835"/>
                </a:solidFill>
                <a:latin typeface="Arial"/>
              </a:rPr>
              <a:t>Suitability Score (0–100%)</a:t>
            </a:r>
          </a:p>
          <a:p>
            <a:pPr algn="ctr">
              <a:spcBef>
                <a:spcPts val="200"/>
              </a:spcBef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Algorithmic rating based on slope %, drainage convergence &amp; soil permeability.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55480" y="2606040"/>
            <a:ext cx="21945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>
              <a:defRPr sz="1050" b="1">
                <a:solidFill>
                  <a:srgbClr val="973835"/>
                </a:solidFill>
                <a:latin typeface="Calibri"/>
              </a:defRPr>
            </a:pPr>
            <a:r>
              <a:rPr sz="1000" b="1" dirty="0">
                <a:solidFill>
                  <a:srgbClr val="973835"/>
                </a:solidFill>
                <a:latin typeface="Arial"/>
              </a:rPr>
              <a:t>Cryptographic Certificate</a:t>
            </a:r>
          </a:p>
          <a:p>
            <a:pPr algn="ctr">
              <a:spcBef>
                <a:spcPts val="200"/>
              </a:spcBef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SHA-256 hashed compliance audit report with GPS coordinates &amp; timestamps.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55480" y="3429000"/>
            <a:ext cx="21945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>
              <a:defRPr sz="1050" b="1">
                <a:solidFill>
                  <a:srgbClr val="973835"/>
                </a:solidFill>
                <a:latin typeface="Calibri"/>
              </a:defRPr>
            </a:pPr>
            <a:r>
              <a:rPr sz="1000" b="1" dirty="0">
                <a:solidFill>
                  <a:srgbClr val="973835"/>
                </a:solidFill>
                <a:latin typeface="Arial"/>
              </a:rPr>
              <a:t>5-Season Temporal Slider</a:t>
            </a:r>
          </a:p>
          <a:p>
            <a:pPr algn="ctr">
              <a:spcBef>
                <a:spcPts val="200"/>
              </a:spcBef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Multi-season comparison (May drought baseline to Oct peak recharge) via NDVI.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555480" y="4214470"/>
            <a:ext cx="2194560" cy="82478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>
              <a:defRPr sz="1050" b="1">
                <a:solidFill>
                  <a:srgbClr val="973835"/>
                </a:solidFill>
                <a:latin typeface="Calibri"/>
              </a:defRPr>
            </a:pPr>
            <a:r>
              <a:rPr sz="1000" b="1" dirty="0">
                <a:solidFill>
                  <a:srgbClr val="973835"/>
                </a:solidFill>
                <a:latin typeface="Arial"/>
              </a:rPr>
              <a:t>Automated Siltation Alerts</a:t>
            </a:r>
          </a:p>
          <a:p>
            <a:pPr algn="ctr">
              <a:spcBef>
                <a:spcPts val="200"/>
              </a:spcBef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Ultrasonic sensor threshold (&gt;25% silt) triggers proactive desilting work orders.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555480" y="5074920"/>
            <a:ext cx="21945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>
              <a:defRPr sz="1050" b="1">
                <a:solidFill>
                  <a:srgbClr val="973835"/>
                </a:solidFill>
                <a:latin typeface="Calibri"/>
              </a:defRPr>
            </a:pPr>
            <a:r>
              <a:rPr sz="1000" b="1" dirty="0">
                <a:solidFill>
                  <a:srgbClr val="973835"/>
                </a:solidFill>
                <a:latin typeface="Arial"/>
              </a:rPr>
              <a:t>Public Village Dossier</a:t>
            </a:r>
          </a:p>
          <a:p>
            <a:pPr algn="ctr">
              <a:spcBef>
                <a:spcPts val="200"/>
              </a:spcBef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Gram Panchayat transparency dossier with contractor details &amp; water table rise.</a:t>
            </a:r>
          </a:p>
        </p:txBody>
      </p:sp>
      <p:pic>
        <p:nvPicPr>
          <p:cNvPr id="37" name="object 11">
            <a:extLst>
              <a:ext uri="{FF2B5EF4-FFF2-40B4-BE49-F238E27FC236}">
                <a16:creationId xmlns:a16="http://schemas.microsoft.com/office/drawing/2014/main" id="{D7058D65-B325-9582-0B5D-61E0BAE3DABD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0781" y="73152"/>
            <a:ext cx="876300" cy="86452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ih_logo_perfec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73152"/>
            <a:ext cx="224028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182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973835"/>
                </a:solidFill>
                <a:latin typeface="Calibri"/>
              </a:defRPr>
            </a:pPr>
            <a:r>
              <a:t>FEASIBILITY AND VIABILITY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64224"/>
            <a:ext cx="12191999" cy="493776"/>
          </a:xfrm>
          <a:prstGeom prst="rect">
            <a:avLst/>
          </a:prstGeom>
          <a:solidFill>
            <a:srgbClr val="973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731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868680"/>
            <a:ext cx="4663440" cy="59436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>
              <a:defRPr sz="1100">
                <a:solidFill>
                  <a:srgbClr val="212529"/>
                </a:solidFill>
                <a:latin typeface="Calibri"/>
              </a:defRPr>
            </a:pPr>
            <a:r>
              <a:rPr sz="1050" b="1">
                <a:solidFill>
                  <a:srgbClr val="14532D"/>
                </a:solidFill>
                <a:latin typeface="Arial"/>
              </a:rPr>
              <a:t>A production-ready, lightweight geospatial intelligence platform designed for immediate deployment in rural watersheds.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868680"/>
            <a:ext cx="3474720" cy="59436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>
              <a:defRPr sz="1100">
                <a:solidFill>
                  <a:srgbClr val="212529"/>
                </a:solidFill>
                <a:latin typeface="Calibri"/>
              </a:defRPr>
            </a:pPr>
            <a:r>
              <a:rPr sz="980" b="0" dirty="0">
                <a:solidFill>
                  <a:srgbClr val="4B5563"/>
                </a:solidFill>
                <a:latin typeface="Arial"/>
              </a:rPr>
              <a:t>Technically feasible, low-bandwidth architecture operating at &lt; ₹2,500/structure/year with offline-ready field sync.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572768"/>
            <a:ext cx="3383280" cy="4645152"/>
          </a:xfrm>
          <a:prstGeom prst="roundRect">
            <a:avLst/>
          </a:prstGeom>
          <a:solidFill>
            <a:srgbClr val="F5FAFF"/>
          </a:solidFill>
          <a:ln w="19050">
            <a:solidFill>
              <a:srgbClr val="235F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02920" y="1691640"/>
            <a:ext cx="3108960" cy="384048"/>
          </a:xfrm>
          <a:prstGeom prst="roundRect">
            <a:avLst/>
          </a:prstGeom>
          <a:solidFill>
            <a:srgbClr val="235F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Technical Feasibility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176272"/>
            <a:ext cx="3108960" cy="33932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50"/>
              </a:spcAft>
            </a:pPr>
            <a:r>
              <a:rPr sz="1000" b="1" dirty="0">
                <a:solidFill>
                  <a:srgbClr val="1E3A8A"/>
                </a:solidFill>
                <a:latin typeface="Arial"/>
              </a:rPr>
              <a:t>•</a:t>
            </a:r>
            <a:r>
              <a:rPr sz="1200" b="1" dirty="0">
                <a:solidFill>
                  <a:srgbClr val="1E3A8A"/>
                </a:solidFill>
                <a:latin typeface="Arial"/>
              </a:rPr>
              <a:t> Zero-Download Web SPA: 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Runs smoothly on budget Android smartphones and desktop browsers without native app installations.</a:t>
            </a:r>
          </a:p>
          <a:p>
            <a:pPr>
              <a:spcAft>
                <a:spcPts val="850"/>
              </a:spcAft>
            </a:pPr>
            <a:r>
              <a:rPr sz="1200" b="1" dirty="0">
                <a:solidFill>
                  <a:srgbClr val="1E3A8A"/>
                </a:solidFill>
                <a:latin typeface="Arial"/>
              </a:rPr>
              <a:t>• Low-Bandwidth Edge Capability: 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Sub-50KB JSON payloads and vector tile caching ensure instant map rendering even on 2G/3G networks.</a:t>
            </a:r>
          </a:p>
          <a:p>
            <a:pPr>
              <a:spcAft>
                <a:spcPts val="850"/>
              </a:spcAft>
            </a:pPr>
            <a:r>
              <a:rPr sz="1200" b="1" dirty="0">
                <a:solidFill>
                  <a:srgbClr val="1E3A8A"/>
                </a:solidFill>
                <a:latin typeface="Arial"/>
              </a:rPr>
              <a:t>• Offline-Resilient Field Logging: 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Field evidence photos and GPS coordinates store in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IndexedDB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local cache, syncing automatically when online.</a:t>
            </a:r>
          </a:p>
          <a:p>
            <a:pPr>
              <a:spcAft>
                <a:spcPts val="850"/>
              </a:spcAft>
            </a:pPr>
            <a:r>
              <a:rPr sz="1200" b="1" dirty="0">
                <a:solidFill>
                  <a:srgbClr val="1E3A8A"/>
                </a:solidFill>
                <a:latin typeface="Arial"/>
              </a:rPr>
              <a:t>• Open Standards &amp; Modularity: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GeoJSON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and WMS/WFS compatible with ISRO Bhuvan, CGWB, and National Watershed repositories.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31920" y="1572768"/>
            <a:ext cx="4389120" cy="46451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069080" y="1691640"/>
            <a:ext cx="4114800" cy="384048"/>
          </a:xfrm>
          <a:prstGeom prst="roundRect">
            <a:avLst/>
          </a:prstGeom>
          <a:solidFill>
            <a:srgbClr val="973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Potential Risks &amp; Mitigation Strategies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69080" y="2212848"/>
            <a:ext cx="1965960" cy="86868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>
              <a:defRPr sz="1000" b="1">
                <a:solidFill>
                  <a:srgbClr val="973835"/>
                </a:solidFill>
                <a:latin typeface="Calibri"/>
              </a:defRPr>
            </a:pPr>
            <a:r>
              <a:rPr sz="880" b="1">
                <a:solidFill>
                  <a:srgbClr val="973835"/>
                </a:solidFill>
                <a:latin typeface="Arial"/>
              </a:rPr>
              <a:t>Risk: Valley cellular dead-zones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212848"/>
            <a:ext cx="2011680" cy="8686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238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l">
              <a:defRPr sz="950">
                <a:solidFill>
                  <a:srgbClr val="212529"/>
                </a:solidFill>
                <a:latin typeface="Calibri"/>
              </a:defRPr>
            </a:pPr>
            <a:r>
              <a:rPr sz="800" b="0">
                <a:solidFill>
                  <a:srgbClr val="14532D"/>
                </a:solidFill>
                <a:latin typeface="Arial"/>
              </a:rPr>
              <a:t>Fix: Dual-hop LoRaWAN mesh relay nodes transmit telemetry to solar gateway.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69080" y="3172968"/>
            <a:ext cx="1965960" cy="86868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>
              <a:defRPr sz="1000" b="1">
                <a:solidFill>
                  <a:srgbClr val="973835"/>
                </a:solidFill>
                <a:latin typeface="Calibri"/>
              </a:defRPr>
            </a:pPr>
            <a:r>
              <a:rPr sz="880" b="1">
                <a:solidFill>
                  <a:srgbClr val="973835"/>
                </a:solidFill>
                <a:latin typeface="Arial"/>
              </a:rPr>
              <a:t>Risk: Camera lens dust / smudge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72968"/>
            <a:ext cx="2011680" cy="8686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238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l">
              <a:defRPr sz="950">
                <a:solidFill>
                  <a:srgbClr val="212529"/>
                </a:solidFill>
                <a:latin typeface="Calibri"/>
              </a:defRPr>
            </a:pPr>
            <a:r>
              <a:rPr sz="800" b="0">
                <a:solidFill>
                  <a:srgbClr val="14532D"/>
                </a:solidFill>
                <a:latin typeface="Arial"/>
              </a:rPr>
              <a:t>Fix: Multi-point Bayer residual variance filtering &amp; EXIF digest cross-validation.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69080" y="4133087"/>
            <a:ext cx="1965960" cy="86868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>
              <a:defRPr sz="1000" b="1">
                <a:solidFill>
                  <a:srgbClr val="973835"/>
                </a:solidFill>
                <a:latin typeface="Calibri"/>
              </a:defRPr>
            </a:pPr>
            <a:r>
              <a:rPr sz="880" b="1">
                <a:solidFill>
                  <a:srgbClr val="973835"/>
                </a:solidFill>
                <a:latin typeface="Arial"/>
              </a:rPr>
              <a:t>Risk: Dam siltation capacity loss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133087"/>
            <a:ext cx="2011680" cy="8686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238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l">
              <a:defRPr sz="950">
                <a:solidFill>
                  <a:srgbClr val="212529"/>
                </a:solidFill>
                <a:latin typeface="Calibri"/>
              </a:defRPr>
            </a:pPr>
            <a:r>
              <a:rPr sz="800" b="0">
                <a:solidFill>
                  <a:srgbClr val="14532D"/>
                </a:solidFill>
                <a:latin typeface="Arial"/>
              </a:rPr>
              <a:t>Fix: Ultrasonic silt profilers trigger automated desiltation work orders at &gt;25% silt.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69080" y="5093208"/>
            <a:ext cx="1965960" cy="86868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>
              <a:defRPr sz="1000" b="1">
                <a:solidFill>
                  <a:srgbClr val="973835"/>
                </a:solidFill>
                <a:latin typeface="Calibri"/>
              </a:defRPr>
            </a:pPr>
            <a:r>
              <a:rPr sz="880" b="1">
                <a:solidFill>
                  <a:srgbClr val="973835"/>
                </a:solidFill>
                <a:latin typeface="Arial"/>
              </a:rPr>
              <a:t>Risk: Field contractor adoption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5093208"/>
            <a:ext cx="2011680" cy="8686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238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l">
              <a:defRPr sz="950">
                <a:solidFill>
                  <a:srgbClr val="212529"/>
                </a:solidFill>
                <a:latin typeface="Calibri"/>
              </a:defRPr>
            </a:pPr>
            <a:r>
              <a:rPr sz="800" b="0">
                <a:solidFill>
                  <a:srgbClr val="14532D"/>
                </a:solidFill>
                <a:latin typeface="Arial"/>
              </a:rPr>
              <a:t>Fix: Intuitive mobile PWA with instant digital milestone clearance accelerates payments.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03920" y="1572768"/>
            <a:ext cx="3291840" cy="4645152"/>
          </a:xfrm>
          <a:prstGeom prst="roundRect">
            <a:avLst/>
          </a:prstGeom>
          <a:solidFill>
            <a:srgbClr val="F8FDFA"/>
          </a:solidFill>
          <a:ln w="19050">
            <a:solidFill>
              <a:srgbClr val="238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641080" y="1691640"/>
            <a:ext cx="3017520" cy="384048"/>
          </a:xfrm>
          <a:prstGeom prst="roundRect">
            <a:avLst/>
          </a:prstGeom>
          <a:solidFill>
            <a:srgbClr val="238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Practical Implementation &amp; Viability</a:t>
            </a:r>
          </a:p>
        </p:txBody>
      </p:sp>
      <p:sp>
        <p:nvSpPr>
          <p:cNvPr id="25" name="Oval 24"/>
          <p:cNvSpPr/>
          <p:nvPr/>
        </p:nvSpPr>
        <p:spPr>
          <a:xfrm>
            <a:off x="8641080" y="2240280"/>
            <a:ext cx="320040" cy="320040"/>
          </a:xfrm>
          <a:prstGeom prst="ellipse">
            <a:avLst/>
          </a:prstGeom>
          <a:solidFill>
            <a:srgbClr val="238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6840" y="2203704"/>
            <a:ext cx="2651760" cy="696601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>
              <a:defRPr sz="1050" b="1">
                <a:solidFill>
                  <a:srgbClr val="238741"/>
                </a:solidFill>
                <a:latin typeface="Calibri"/>
              </a:defRPr>
            </a:pPr>
            <a:r>
              <a:rPr sz="1000" b="1" dirty="0">
                <a:solidFill>
                  <a:srgbClr val="973835"/>
                </a:solidFill>
                <a:latin typeface="Arial"/>
              </a:rPr>
              <a:t>Drastic Cost Reduction:</a:t>
            </a:r>
          </a:p>
          <a:p>
            <a:pPr algn="l">
              <a:spcBef>
                <a:spcPts val="200"/>
              </a:spcBef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Drops monitoring cost from ₹20,000 (manual travel &amp; paper audits) to ₹2,500/structure/year (~82% savings).</a:t>
            </a:r>
          </a:p>
        </p:txBody>
      </p:sp>
      <p:sp>
        <p:nvSpPr>
          <p:cNvPr id="27" name="Oval 26"/>
          <p:cNvSpPr/>
          <p:nvPr/>
        </p:nvSpPr>
        <p:spPr>
          <a:xfrm>
            <a:off x="8641080" y="3017520"/>
            <a:ext cx="320040" cy="320040"/>
          </a:xfrm>
          <a:prstGeom prst="ellipse">
            <a:avLst/>
          </a:prstGeom>
          <a:solidFill>
            <a:srgbClr val="238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6840" y="2980944"/>
            <a:ext cx="2651760" cy="696601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>
              <a:defRPr sz="1050" b="1">
                <a:solidFill>
                  <a:srgbClr val="238741"/>
                </a:solidFill>
                <a:latin typeface="Calibri"/>
              </a:defRPr>
            </a:pPr>
            <a:r>
              <a:rPr sz="1000" b="1" dirty="0">
                <a:solidFill>
                  <a:srgbClr val="973835"/>
                </a:solidFill>
                <a:latin typeface="Arial"/>
              </a:rPr>
              <a:t>Immediate </a:t>
            </a:r>
            <a:r>
              <a:rPr sz="1000" b="1" dirty="0" err="1">
                <a:solidFill>
                  <a:srgbClr val="973835"/>
                </a:solidFill>
                <a:latin typeface="Arial"/>
              </a:rPr>
              <a:t>Deployability</a:t>
            </a:r>
            <a:r>
              <a:rPr sz="1000" b="1" dirty="0">
                <a:solidFill>
                  <a:srgbClr val="973835"/>
                </a:solidFill>
                <a:latin typeface="Arial"/>
              </a:rPr>
              <a:t>:</a:t>
            </a:r>
          </a:p>
          <a:p>
            <a:pPr algn="l">
              <a:spcBef>
                <a:spcPts val="200"/>
              </a:spcBef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Zero-server setup with static web client and serverless microservices deployable on State Data Centers (SDC).</a:t>
            </a:r>
          </a:p>
        </p:txBody>
      </p:sp>
      <p:sp>
        <p:nvSpPr>
          <p:cNvPr id="29" name="Oval 28"/>
          <p:cNvSpPr/>
          <p:nvPr/>
        </p:nvSpPr>
        <p:spPr>
          <a:xfrm>
            <a:off x="8641080" y="3794760"/>
            <a:ext cx="320040" cy="320040"/>
          </a:xfrm>
          <a:prstGeom prst="ellipse">
            <a:avLst/>
          </a:prstGeom>
          <a:solidFill>
            <a:srgbClr val="238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6840" y="3758184"/>
            <a:ext cx="2651760" cy="696601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>
              <a:defRPr sz="1050" b="1">
                <a:solidFill>
                  <a:srgbClr val="238741"/>
                </a:solidFill>
                <a:latin typeface="Calibri"/>
              </a:defRPr>
            </a:pPr>
            <a:r>
              <a:rPr sz="1000" b="1" dirty="0">
                <a:solidFill>
                  <a:srgbClr val="973835"/>
                </a:solidFill>
                <a:latin typeface="Arial"/>
              </a:rPr>
              <a:t>Frictionless Adoption:</a:t>
            </a:r>
          </a:p>
          <a:p>
            <a:pPr algn="l">
              <a:spcBef>
                <a:spcPts val="200"/>
              </a:spcBef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Mobile PWA requires zero officer training; plain-language site dossiers with interactive GIS visuals.</a:t>
            </a:r>
          </a:p>
        </p:txBody>
      </p:sp>
      <p:sp>
        <p:nvSpPr>
          <p:cNvPr id="31" name="Oval 30"/>
          <p:cNvSpPr/>
          <p:nvPr/>
        </p:nvSpPr>
        <p:spPr>
          <a:xfrm>
            <a:off x="8641080" y="4572000"/>
            <a:ext cx="320040" cy="320040"/>
          </a:xfrm>
          <a:prstGeom prst="ellipse">
            <a:avLst/>
          </a:prstGeom>
          <a:solidFill>
            <a:srgbClr val="238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6840" y="4535424"/>
            <a:ext cx="2651760" cy="696601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>
              <a:defRPr sz="1050" b="1">
                <a:solidFill>
                  <a:srgbClr val="238741"/>
                </a:solidFill>
                <a:latin typeface="Calibri"/>
              </a:defRPr>
            </a:pPr>
            <a:r>
              <a:rPr sz="1000" b="1" dirty="0">
                <a:solidFill>
                  <a:srgbClr val="973835"/>
                </a:solidFill>
                <a:latin typeface="Arial"/>
              </a:rPr>
              <a:t>Statutory Admissibility:</a:t>
            </a:r>
          </a:p>
          <a:p>
            <a:pPr algn="l">
              <a:spcBef>
                <a:spcPts val="200"/>
              </a:spcBef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Cryptographic SHA-256 digital certificates admissible under PMKSY, MGNREGA, and state audit rules.</a:t>
            </a:r>
          </a:p>
        </p:txBody>
      </p:sp>
      <p:sp>
        <p:nvSpPr>
          <p:cNvPr id="33" name="Oval 32"/>
          <p:cNvSpPr/>
          <p:nvPr/>
        </p:nvSpPr>
        <p:spPr>
          <a:xfrm>
            <a:off x="8641080" y="5349240"/>
            <a:ext cx="320040" cy="320040"/>
          </a:xfrm>
          <a:prstGeom prst="ellipse">
            <a:avLst/>
          </a:prstGeom>
          <a:solidFill>
            <a:srgbClr val="238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0" y="5303520"/>
            <a:ext cx="2651760" cy="696601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>
              <a:defRPr sz="1050" b="1">
                <a:solidFill>
                  <a:srgbClr val="238741"/>
                </a:solidFill>
                <a:latin typeface="Calibri"/>
              </a:defRPr>
            </a:pPr>
            <a:r>
              <a:rPr sz="1000" b="1" dirty="0">
                <a:solidFill>
                  <a:srgbClr val="973835"/>
                </a:solidFill>
                <a:latin typeface="Arial"/>
              </a:rPr>
              <a:t>Real-Time Telemetry:</a:t>
            </a:r>
          </a:p>
          <a:p>
            <a:pPr algn="l">
              <a:spcBef>
                <a:spcPts val="200"/>
              </a:spcBef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Zilla Parishad &amp; Ministerial dashboard offers live tracking of groundwater rise, silt alerts, and drought vulnerability.</a:t>
            </a:r>
          </a:p>
        </p:txBody>
      </p:sp>
      <p:pic>
        <p:nvPicPr>
          <p:cNvPr id="36" name="object 11">
            <a:extLst>
              <a:ext uri="{FF2B5EF4-FFF2-40B4-BE49-F238E27FC236}">
                <a16:creationId xmlns:a16="http://schemas.microsoft.com/office/drawing/2014/main" id="{F8427F15-1C04-C4D6-9E64-446B9FD55986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49450" y="140011"/>
            <a:ext cx="876300" cy="86452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ih_logo_perfec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73152"/>
            <a:ext cx="224028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182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973835"/>
                </a:solidFill>
                <a:latin typeface="Calibri"/>
              </a:defRPr>
            </a:pPr>
            <a:r>
              <a:t>IMPACT AND BENEFITS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64224"/>
            <a:ext cx="12191999" cy="493776"/>
          </a:xfrm>
          <a:prstGeom prst="rect">
            <a:avLst/>
          </a:prstGeom>
          <a:solidFill>
            <a:srgbClr val="973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731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973835"/>
                </a:solidFill>
                <a:latin typeface="Calibri"/>
              </a:defRPr>
            </a:pPr>
            <a:r>
              <a:t>POTENTIAL IMPACT FLOW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389888"/>
            <a:ext cx="2926080" cy="877824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>
              <a:defRPr sz="1050" b="1">
                <a:solidFill>
                  <a:srgbClr val="973835"/>
                </a:solidFill>
                <a:latin typeface="Calibri"/>
              </a:defRPr>
            </a:pPr>
            <a:r>
              <a:rPr sz="1000" b="1" dirty="0">
                <a:solidFill>
                  <a:srgbClr val="973835"/>
                </a:solidFill>
                <a:latin typeface="Arial"/>
              </a:rPr>
              <a:t>1. GEOSPATIAL PLANNING</a:t>
            </a:r>
          </a:p>
          <a:p>
            <a:pPr algn="ctr">
              <a:spcBef>
                <a:spcPts val="500"/>
              </a:spcBef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Vector GIS delineates micro-catchments &amp; calculates Strahler stream drainage hierarchies.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350008"/>
            <a:ext cx="2926080" cy="877824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>
              <a:defRPr sz="1050" b="1">
                <a:solidFill>
                  <a:srgbClr val="973835"/>
                </a:solidFill>
                <a:latin typeface="Calibri"/>
              </a:defRPr>
            </a:pPr>
            <a:r>
              <a:rPr sz="1000" b="1" dirty="0">
                <a:solidFill>
                  <a:srgbClr val="973835"/>
                </a:solidFill>
                <a:latin typeface="Arial"/>
              </a:rPr>
              <a:t>2. AI SITING OPTIMIZATION</a:t>
            </a:r>
          </a:p>
          <a:p>
            <a:pPr algn="ctr">
              <a:spcBef>
                <a:spcPts val="500"/>
              </a:spcBef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DEM slope &amp; runoff convergence algorithm scores optimal check-dam coordinates (0–100%</a:t>
            </a:r>
            <a:r>
              <a:rPr sz="819" b="0" dirty="0">
                <a:solidFill>
                  <a:srgbClr val="1F2937"/>
                </a:solidFill>
                <a:latin typeface="Arial"/>
              </a:rPr>
              <a:t>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3282696"/>
            <a:ext cx="2926080" cy="877824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>
              <a:defRPr sz="1050" b="1">
                <a:solidFill>
                  <a:srgbClr val="973835"/>
                </a:solidFill>
                <a:latin typeface="Calibri"/>
              </a:defRPr>
            </a:pPr>
            <a:r>
              <a:rPr sz="1000" b="1" dirty="0">
                <a:solidFill>
                  <a:srgbClr val="973835"/>
                </a:solidFill>
                <a:latin typeface="Arial"/>
              </a:rPr>
              <a:t>3. FORENSIC EVIDENCE</a:t>
            </a:r>
          </a:p>
          <a:p>
            <a:pPr algn="ctr">
              <a:spcBef>
                <a:spcPts val="500"/>
              </a:spcBef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Mobile photo capture with CMOS Bayer sensor pattern verification &amp; SHA-256 hashing.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4270248"/>
            <a:ext cx="2926080" cy="877824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>
              <a:defRPr sz="1050" b="1">
                <a:solidFill>
                  <a:srgbClr val="973835"/>
                </a:solidFill>
                <a:latin typeface="Calibri"/>
              </a:defRPr>
            </a:pPr>
            <a:r>
              <a:rPr sz="1000" b="1" dirty="0">
                <a:solidFill>
                  <a:srgbClr val="973835"/>
                </a:solidFill>
                <a:latin typeface="Arial"/>
              </a:rPr>
              <a:t>4. MILESTONE CLEARANCE</a:t>
            </a:r>
          </a:p>
          <a:p>
            <a:pPr algn="ctr">
              <a:spcBef>
                <a:spcPts val="500"/>
              </a:spcBef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Verified cryptographic audit certificate triggers transparent public fund disbursement.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5230368"/>
            <a:ext cx="2926080" cy="877824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>
              <a:defRPr sz="1050" b="1">
                <a:solidFill>
                  <a:srgbClr val="973835"/>
                </a:solidFill>
                <a:latin typeface="Calibri"/>
              </a:defRPr>
            </a:pPr>
            <a:r>
              <a:rPr sz="1000" b="1" dirty="0">
                <a:solidFill>
                  <a:srgbClr val="973835"/>
                </a:solidFill>
                <a:latin typeface="Arial"/>
              </a:rPr>
              <a:t>5. CONTINUOUS IMPACT</a:t>
            </a:r>
          </a:p>
          <a:p>
            <a:pPr algn="ctr">
              <a:spcBef>
                <a:spcPts val="500"/>
              </a:spcBef>
            </a:pPr>
            <a:r>
              <a:rPr sz="1000" b="0" dirty="0" err="1">
                <a:solidFill>
                  <a:srgbClr val="1F2937"/>
                </a:solidFill>
                <a:latin typeface="Arial"/>
              </a:rPr>
              <a:t>LoRaWAN</a:t>
            </a:r>
            <a:r>
              <a:rPr sz="1000" b="0" dirty="0">
                <a:solidFill>
                  <a:srgbClr val="1F2937"/>
                </a:solidFill>
                <a:latin typeface="Arial"/>
              </a:rPr>
              <a:t> sensors &amp; Sentinel-2 satellite track groundwater recharge &amp; +144% farmer income.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1051560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973835"/>
                </a:solidFill>
                <a:latin typeface="Calibri"/>
              </a:defRPr>
            </a:pPr>
            <a:r>
              <a:t>BENEFITS BY PILLAR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74720" y="1389888"/>
            <a:ext cx="5486400" cy="87782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E50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566160" y="1463040"/>
            <a:ext cx="1737360" cy="731520"/>
          </a:xfrm>
          <a:prstGeom prst="roundRect">
            <a:avLst/>
          </a:prstGeom>
          <a:solidFill>
            <a:srgbClr val="6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rPr sz="980" b="1">
                <a:solidFill>
                  <a:srgbClr val="FFFFFF"/>
                </a:solidFill>
                <a:latin typeface="Arial"/>
              </a:rPr>
              <a:t>Target Beneficiaries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1408176"/>
            <a:ext cx="3474720" cy="7535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450"/>
              </a:spcAft>
              <a:defRPr sz="950">
                <a:solidFill>
                  <a:srgbClr val="212529"/>
                </a:solidFill>
                <a:latin typeface="Calibri"/>
              </a:defRPr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• 250–500 small &amp; marginal farming families per micro-watershed cluster</a:t>
            </a:r>
          </a:p>
          <a:p>
            <a:pPr algn="l">
              <a:spcAft>
                <a:spcPts val="450"/>
              </a:spcAft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• State Water Resources Depts, Zilla Parishads, CSR Foundations &amp; Gram Panchayats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74720" y="2350008"/>
            <a:ext cx="5486400" cy="87782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3566160" y="2423160"/>
            <a:ext cx="1737360" cy="731520"/>
          </a:xfrm>
          <a:prstGeom prst="roundRect">
            <a:avLst/>
          </a:prstGeom>
          <a:solidFill>
            <a:srgbClr val="D23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rPr sz="980" b="1">
                <a:solidFill>
                  <a:srgbClr val="FFFFFF"/>
                </a:solidFill>
                <a:latin typeface="Arial"/>
              </a:rPr>
              <a:t>Hydrological Impact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2368296"/>
            <a:ext cx="3474720" cy="7535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450"/>
              </a:spcAft>
              <a:defRPr sz="950">
                <a:solidFill>
                  <a:srgbClr val="212529"/>
                </a:solidFill>
                <a:latin typeface="Calibri"/>
              </a:defRPr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• +210% to +340% increase in water retention capacity; prevents flash-flood erosion in valleys</a:t>
            </a:r>
          </a:p>
          <a:p>
            <a:pPr algn="l">
              <a:spcAft>
                <a:spcPts val="450"/>
              </a:spcAft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• +2.4m to +4.2m water table elevation in downstream wells, sustaining borewells through summer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74720" y="3310128"/>
            <a:ext cx="5486400" cy="87782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82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3566160" y="3383280"/>
            <a:ext cx="1737360" cy="731520"/>
          </a:xfrm>
          <a:prstGeom prst="roundRect">
            <a:avLst/>
          </a:prstGeom>
          <a:solidFill>
            <a:srgbClr val="C88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rPr sz="980" b="1">
                <a:solidFill>
                  <a:srgbClr val="FFFFFF"/>
                </a:solidFill>
                <a:latin typeface="Arial"/>
              </a:rPr>
              <a:t>Socio-Economic Impact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3328416"/>
            <a:ext cx="3474720" cy="7535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450"/>
              </a:spcAft>
              <a:defRPr sz="950">
                <a:solidFill>
                  <a:srgbClr val="212529"/>
                </a:solidFill>
                <a:latin typeface="Calibri"/>
              </a:defRPr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• Guarantees dual-crop (Kharif + Rabi) cycles, ending distress seasonal migration</a:t>
            </a:r>
          </a:p>
          <a:p>
            <a:pPr algn="l">
              <a:spcAft>
                <a:spcPts val="450"/>
              </a:spcAft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• +144% farmer income growth: average annual income rises from ₹58,000 to ₹1,42,000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74720" y="4270248"/>
            <a:ext cx="5486400" cy="87782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78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3566160" y="4343400"/>
            <a:ext cx="1737360" cy="731520"/>
          </a:xfrm>
          <a:prstGeom prst="roundRect">
            <a:avLst/>
          </a:prstGeom>
          <a:solidFill>
            <a:srgbClr val="1E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rPr sz="980" b="1">
                <a:solidFill>
                  <a:srgbClr val="FFFFFF"/>
                </a:solidFill>
                <a:latin typeface="Arial"/>
              </a:rPr>
              <a:t>Governance Impact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4288536"/>
            <a:ext cx="3474720" cy="7535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450"/>
              </a:spcAft>
              <a:defRPr sz="950">
                <a:solidFill>
                  <a:srgbClr val="212529"/>
                </a:solidFill>
                <a:latin typeface="Calibri"/>
              </a:defRPr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• 100% elimination of ghost infrastructure fraud by linking payments to cryptographic AI certificates</a:t>
            </a:r>
          </a:p>
          <a:p>
            <a:pPr algn="l">
              <a:spcAft>
                <a:spcPts val="450"/>
              </a:spcAft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• Slashes administrative verification expenditure by 82% (from ₹20,000 to ₹2,500/year)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74720" y="5230368"/>
            <a:ext cx="5486400" cy="87782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96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3566160" y="5303520"/>
            <a:ext cx="1737360" cy="731520"/>
          </a:xfrm>
          <a:prstGeom prst="roundRect">
            <a:avLst/>
          </a:prstGeom>
          <a:solidFill>
            <a:srgbClr val="1E9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rPr sz="980" b="1">
                <a:solidFill>
                  <a:srgbClr val="FFFFFF"/>
                </a:solidFill>
                <a:latin typeface="Arial"/>
              </a:rPr>
              <a:t>Environmental Impact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94960" y="5248656"/>
            <a:ext cx="3474720" cy="7535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450"/>
              </a:spcAft>
              <a:defRPr sz="950">
                <a:solidFill>
                  <a:srgbClr val="212529"/>
                </a:solidFill>
                <a:latin typeface="Calibri"/>
              </a:defRPr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• Arrests 180+ tons of topsoil erosion per dam/season; cools micro-climate by 1.5°C–2.0°C</a:t>
            </a:r>
          </a:p>
          <a:p>
            <a:pPr algn="l">
              <a:spcAft>
                <a:spcPts val="450"/>
              </a:spcAft>
            </a:pPr>
            <a:r>
              <a:rPr sz="1000" b="0" dirty="0">
                <a:solidFill>
                  <a:srgbClr val="1F2937"/>
                </a:solidFill>
                <a:latin typeface="Arial"/>
              </a:rPr>
              <a:t>• +0.28 NDVI green cover expansion supports biodiversity and soil organic carbon replenishment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235440" y="1389888"/>
            <a:ext cx="2651760" cy="4754880"/>
          </a:xfrm>
          <a:prstGeom prst="roundRect">
            <a:avLst/>
          </a:prstGeom>
          <a:solidFill>
            <a:srgbClr val="FDF5F5"/>
          </a:solidFill>
          <a:ln w="1905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973835"/>
                </a:solidFill>
                <a:latin typeface="Calibri"/>
              </a:defRPr>
            </a:pPr>
            <a:r>
              <a:rPr sz="1200" b="1" dirty="0">
                <a:solidFill>
                  <a:srgbClr val="973835"/>
                </a:solidFill>
                <a:latin typeface="Arial"/>
              </a:rPr>
              <a:t>JALDRISHTI GOVERNANCE VISION</a:t>
            </a:r>
          </a:p>
          <a:p>
            <a:pPr algn="ctr">
              <a:spcBef>
                <a:spcPts val="1200"/>
              </a:spcBef>
              <a:spcAft>
                <a:spcPts val="1400"/>
              </a:spcAft>
            </a:pPr>
            <a:r>
              <a:rPr sz="1200" i="1" dirty="0">
                <a:solidFill>
                  <a:srgbClr val="1E3A8A"/>
                </a:solidFill>
                <a:latin typeface="Arial"/>
              </a:rPr>
              <a:t>"A high-precision, tamper-proof, and explainable geospatial intelligence infrastructure ensuring every drop of rain is captured and every rupee of water conservation funds delivers verified ground truth."</a:t>
            </a:r>
          </a:p>
          <a:p>
            <a:pPr algn="ctr">
              <a:spcBef>
                <a:spcPts val="500"/>
              </a:spcBef>
            </a:pPr>
            <a:r>
              <a:rPr sz="1200" b="1" dirty="0">
                <a:solidFill>
                  <a:srgbClr val="14532D"/>
                </a:solidFill>
                <a:latin typeface="Arial"/>
              </a:rPr>
              <a:t>✓ +340% Water Retention  </a:t>
            </a:r>
            <a:r>
              <a:rPr sz="1200" dirty="0">
                <a:solidFill>
                  <a:srgbClr val="4B5563"/>
                </a:solidFill>
                <a:latin typeface="Arial"/>
              </a:rPr>
              <a:t>(Peak monsoon volume capture)</a:t>
            </a:r>
          </a:p>
          <a:p>
            <a:pPr algn="ctr">
              <a:spcBef>
                <a:spcPts val="500"/>
              </a:spcBef>
            </a:pPr>
            <a:r>
              <a:rPr sz="1200" b="1" dirty="0">
                <a:solidFill>
                  <a:srgbClr val="14532D"/>
                </a:solidFill>
                <a:latin typeface="Arial"/>
              </a:rPr>
              <a:t>✓ +3.5m Aquifer Rise  </a:t>
            </a:r>
            <a:r>
              <a:rPr sz="1200" dirty="0">
                <a:solidFill>
                  <a:srgbClr val="4B5563"/>
                </a:solidFill>
                <a:latin typeface="Arial"/>
              </a:rPr>
              <a:t>(Groundwater table elevation)</a:t>
            </a:r>
          </a:p>
          <a:p>
            <a:pPr algn="ctr">
              <a:spcBef>
                <a:spcPts val="500"/>
              </a:spcBef>
            </a:pPr>
            <a:r>
              <a:rPr sz="1200" b="1" dirty="0">
                <a:solidFill>
                  <a:srgbClr val="14532D"/>
                </a:solidFill>
                <a:latin typeface="Arial"/>
              </a:rPr>
              <a:t>✓ +144% Farmer Income  </a:t>
            </a:r>
            <a:r>
              <a:rPr sz="1200" dirty="0">
                <a:solidFill>
                  <a:srgbClr val="4B5563"/>
                </a:solidFill>
                <a:latin typeface="Arial"/>
              </a:rPr>
              <a:t>(From ₹58,000 to ₹1,42,000/yr)</a:t>
            </a:r>
          </a:p>
          <a:p>
            <a:pPr algn="ctr">
              <a:spcBef>
                <a:spcPts val="500"/>
              </a:spcBef>
            </a:pPr>
            <a:r>
              <a:rPr sz="1200" b="1" dirty="0">
                <a:solidFill>
                  <a:srgbClr val="14532D"/>
                </a:solidFill>
                <a:latin typeface="Arial"/>
              </a:rPr>
              <a:t>✓ 82% Audit Cost Reduction  </a:t>
            </a:r>
            <a:r>
              <a:rPr sz="1200" dirty="0">
                <a:solidFill>
                  <a:srgbClr val="4B5563"/>
                </a:solidFill>
                <a:latin typeface="Arial"/>
              </a:rPr>
              <a:t>(Automating manual audits)</a:t>
            </a:r>
          </a:p>
          <a:p>
            <a:pPr algn="ctr">
              <a:spcBef>
                <a:spcPts val="500"/>
              </a:spcBef>
            </a:pPr>
            <a:r>
              <a:rPr sz="1200" b="1" dirty="0">
                <a:solidFill>
                  <a:srgbClr val="14532D"/>
                </a:solidFill>
                <a:latin typeface="Arial"/>
              </a:rPr>
              <a:t>✓ 100% Fraud Elimination  </a:t>
            </a:r>
            <a:r>
              <a:rPr sz="1200" dirty="0">
                <a:solidFill>
                  <a:srgbClr val="4B5563"/>
                </a:solidFill>
                <a:latin typeface="Arial"/>
              </a:rPr>
              <a:t>(Zero ghost asset fund leakage)</a:t>
            </a:r>
          </a:p>
        </p:txBody>
      </p:sp>
      <p:pic>
        <p:nvPicPr>
          <p:cNvPr id="32" name="object 11">
            <a:extLst>
              <a:ext uri="{FF2B5EF4-FFF2-40B4-BE49-F238E27FC236}">
                <a16:creationId xmlns:a16="http://schemas.microsoft.com/office/drawing/2014/main" id="{89DF67E6-8734-5E3F-B7BF-583071D0687B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6200" y="104741"/>
            <a:ext cx="876300" cy="86452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ih_logo_perfec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73152"/>
            <a:ext cx="224028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182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973835"/>
                </a:solidFill>
                <a:latin typeface="Calibri"/>
              </a:defRPr>
            </a:pPr>
            <a:r>
              <a:t>RESEARCH  AND REFERENCES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64224"/>
            <a:ext cx="12191999" cy="493776"/>
          </a:xfrm>
          <a:prstGeom prst="rect">
            <a:avLst/>
          </a:prstGeom>
          <a:solidFill>
            <a:srgbClr val="973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731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49167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50"/>
              </a:spcAft>
              <a:defRPr sz="1500" b="1">
                <a:solidFill>
                  <a:srgbClr val="973835"/>
                </a:solidFill>
                <a:latin typeface="Calibri"/>
              </a:defRPr>
            </a:pPr>
            <a:r>
              <a:rPr sz="1400" b="1" dirty="0">
                <a:solidFill>
                  <a:srgbClr val="973835"/>
                </a:solidFill>
                <a:latin typeface="Arial"/>
              </a:rPr>
              <a:t>1. Statutory Standards &amp; Water Policy Frameworks</a:t>
            </a:r>
          </a:p>
          <a:p>
            <a:pPr>
              <a:spcAft>
                <a:spcPts val="250"/>
              </a:spcAft>
            </a:pPr>
            <a:r>
              <a:rPr sz="1400" b="1" dirty="0">
                <a:solidFill>
                  <a:srgbClr val="000000"/>
                </a:solidFill>
                <a:latin typeface="Arial"/>
              </a:rPr>
              <a:t>•  Central Ground Water Board (CGWB), Ministry of Jal Shakti: 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Master Plan for Artificial Recharge to Ground Water in India (2020 Guidelines).</a:t>
            </a:r>
          </a:p>
          <a:p>
            <a:pPr>
              <a:spcAft>
                <a:spcPts val="250"/>
              </a:spcAft>
            </a:pPr>
            <a:r>
              <a:rPr sz="1400" b="1" dirty="0">
                <a:solidFill>
                  <a:srgbClr val="000000"/>
                </a:solidFill>
                <a:latin typeface="Arial"/>
              </a:rPr>
              <a:t>•  Pradhan Mantri Krishi </a:t>
            </a:r>
            <a:r>
              <a:rPr sz="1400" b="1" dirty="0" err="1">
                <a:solidFill>
                  <a:srgbClr val="000000"/>
                </a:solidFill>
                <a:latin typeface="Arial"/>
              </a:rPr>
              <a:t>Sinchayee</a:t>
            </a:r>
            <a:r>
              <a:rPr sz="1400" b="1" dirty="0">
                <a:solidFill>
                  <a:srgbClr val="000000"/>
                </a:solidFill>
                <a:latin typeface="Arial"/>
              </a:rPr>
              <a:t> Yojana (PMKSY - WDC): 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Statutory guidelines for Geo-tagging and digital asset verification.</a:t>
            </a:r>
          </a:p>
          <a:p>
            <a:pPr>
              <a:spcAft>
                <a:spcPts val="250"/>
              </a:spcAft>
            </a:pPr>
            <a:r>
              <a:rPr sz="1400" b="1" dirty="0">
                <a:solidFill>
                  <a:srgbClr val="000000"/>
                </a:solidFill>
                <a:latin typeface="Arial"/>
              </a:rPr>
              <a:t>•  Mission Amrit Sarovar &amp; Jal Jeevan Mission: 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National geospatial frameworks for rejuvenation of 50,000+ water bodies and rural water security.</a:t>
            </a:r>
          </a:p>
          <a:p>
            <a:pPr>
              <a:spcAft>
                <a:spcPts val="250"/>
              </a:spcAft>
            </a:pPr>
            <a:r>
              <a:rPr sz="1400" b="1" dirty="0">
                <a:solidFill>
                  <a:srgbClr val="000000"/>
                </a:solidFill>
                <a:latin typeface="Arial"/>
              </a:rPr>
              <a:t>•  Food and Agriculture Organization (FAO): 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Watershed Management Field Manual – Soil &amp; Water Conservation Structures (FAO Guide 13/3).</a:t>
            </a:r>
          </a:p>
          <a:p>
            <a:pPr>
              <a:spcBef>
                <a:spcPts val="600"/>
              </a:spcBef>
              <a:spcAft>
                <a:spcPts val="250"/>
              </a:spcAft>
            </a:pPr>
            <a:r>
              <a:rPr sz="1400" b="1" dirty="0">
                <a:solidFill>
                  <a:srgbClr val="973835"/>
                </a:solidFill>
                <a:latin typeface="Arial"/>
              </a:rPr>
              <a:t>2. Hydrological Modeling, Geospatial Cartography &amp; Remote Sensing</a:t>
            </a:r>
          </a:p>
          <a:p>
            <a:pPr>
              <a:spcAft>
                <a:spcPts val="250"/>
              </a:spcAft>
            </a:pPr>
            <a:r>
              <a:rPr sz="1400" b="1" dirty="0">
                <a:solidFill>
                  <a:srgbClr val="000000"/>
                </a:solidFill>
                <a:latin typeface="Arial"/>
              </a:rPr>
              <a:t>•  USDA-NRCS: 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Soil Conservation Service Curve Number (SCS-CN) Hydrological Runoff Modeling Methodology.</a:t>
            </a:r>
          </a:p>
          <a:p>
            <a:pPr>
              <a:spcAft>
                <a:spcPts val="250"/>
              </a:spcAft>
            </a:pPr>
            <a:r>
              <a:rPr sz="1400" b="1" dirty="0">
                <a:solidFill>
                  <a:srgbClr val="000000"/>
                </a:solidFill>
                <a:latin typeface="Arial"/>
              </a:rPr>
              <a:t>•  Strahler, A. N. (1957): 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Quantitative Analysis of Watershed Geomorphology — Stream hierarchy classification for erosion control.</a:t>
            </a:r>
          </a:p>
          <a:p>
            <a:pPr>
              <a:spcAft>
                <a:spcPts val="250"/>
              </a:spcAft>
            </a:pPr>
            <a:r>
              <a:rPr sz="1400" b="1" dirty="0">
                <a:solidFill>
                  <a:srgbClr val="000000"/>
                </a:solidFill>
                <a:latin typeface="Arial"/>
              </a:rPr>
              <a:t>•  European Space Agency (ESA Copernicus): 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Sentinel-2 MSI Multi-Spectral Instrument (10m Level-2A Surface Reflectance: NDVI &amp; NDWI).</a:t>
            </a:r>
          </a:p>
          <a:p>
            <a:pPr>
              <a:spcAft>
                <a:spcPts val="250"/>
              </a:spcAft>
            </a:pPr>
            <a:r>
              <a:rPr sz="1400" b="1" dirty="0">
                <a:solidFill>
                  <a:srgbClr val="000000"/>
                </a:solidFill>
                <a:latin typeface="Arial"/>
              </a:rPr>
              <a:t>•  ISRO &amp; NRSC: 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National Watershed Atlas &amp; Bhuvan Geospatial Hydrology Protocols.</a:t>
            </a:r>
          </a:p>
          <a:p>
            <a:pPr>
              <a:spcAft>
                <a:spcPts val="250"/>
              </a:spcAft>
            </a:pPr>
            <a:r>
              <a:rPr sz="1400" b="1" dirty="0">
                <a:solidFill>
                  <a:srgbClr val="000000"/>
                </a:solidFill>
                <a:latin typeface="Arial"/>
              </a:rPr>
              <a:t>•  </a:t>
            </a:r>
            <a:r>
              <a:rPr sz="1400" b="1" dirty="0" err="1">
                <a:solidFill>
                  <a:srgbClr val="000000"/>
                </a:solidFill>
                <a:latin typeface="Arial"/>
              </a:rPr>
              <a:t>OpenFreeMap</a:t>
            </a:r>
            <a:r>
              <a:rPr sz="1400" b="1" dirty="0">
                <a:solidFill>
                  <a:srgbClr val="000000"/>
                </a:solidFill>
                <a:latin typeface="Arial"/>
              </a:rPr>
              <a:t> Project: 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Open-source Vector Tile Topographical Schemas and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MapLibre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 GL Cartography Engine.</a:t>
            </a:r>
          </a:p>
          <a:p>
            <a:pPr>
              <a:spcBef>
                <a:spcPts val="600"/>
              </a:spcBef>
              <a:spcAft>
                <a:spcPts val="250"/>
              </a:spcAft>
            </a:pPr>
            <a:r>
              <a:rPr sz="1400" b="1" dirty="0">
                <a:solidFill>
                  <a:srgbClr val="973835"/>
                </a:solidFill>
                <a:latin typeface="Arial"/>
              </a:rPr>
              <a:t>3. Computer Vision Forensics, Sensor Pattern Noise &amp; Cryptography</a:t>
            </a:r>
          </a:p>
          <a:p>
            <a:pPr>
              <a:spcAft>
                <a:spcPts val="250"/>
              </a:spcAft>
            </a:pPr>
            <a:r>
              <a:rPr sz="1400" b="1" dirty="0">
                <a:solidFill>
                  <a:srgbClr val="000000"/>
                </a:solidFill>
                <a:latin typeface="Arial"/>
              </a:rPr>
              <a:t>•  Lukas et al. (IEEE TIFS): 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Digital Camera Sensor Identification Using CMOS Photo-Response Non-Uniformity (PRNU) &amp; Bayer Noise.</a:t>
            </a:r>
          </a:p>
          <a:p>
            <a:pPr>
              <a:spcAft>
                <a:spcPts val="250"/>
              </a:spcAft>
            </a:pPr>
            <a:r>
              <a:rPr sz="1400" b="1" dirty="0">
                <a:solidFill>
                  <a:srgbClr val="000000"/>
                </a:solidFill>
                <a:latin typeface="Arial"/>
              </a:rPr>
              <a:t>•  Corvi et al. (IEEE CVPR): 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On the Detection of Synthetic Diffusion Images Using High-Frequency Residual &amp; Optical Edge Analysis.</a:t>
            </a:r>
          </a:p>
          <a:p>
            <a:pPr>
              <a:spcAft>
                <a:spcPts val="250"/>
              </a:spcAft>
            </a:pPr>
            <a:r>
              <a:rPr sz="1400" b="1" dirty="0">
                <a:solidFill>
                  <a:srgbClr val="000000"/>
                </a:solidFill>
                <a:latin typeface="Arial"/>
              </a:rPr>
              <a:t>•  NIST FIPS 180-4: 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Secure Hash Standard (SHA-256) for Tamper-Proof Electronic Evidence Certification.</a:t>
            </a:r>
          </a:p>
          <a:p>
            <a:pPr>
              <a:spcAft>
                <a:spcPts val="250"/>
              </a:spcAft>
            </a:pPr>
            <a:r>
              <a:rPr sz="1400" b="1" dirty="0">
                <a:solidFill>
                  <a:srgbClr val="000000"/>
                </a:solidFill>
                <a:latin typeface="Arial"/>
              </a:rPr>
              <a:t>•  LoRa Alliance: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LoRaWAN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 Link Layer Specification v1.0.4 for Long-Range Rural Micro-RTU Sensor Mesh Networks.</a:t>
            </a:r>
          </a:p>
        </p:txBody>
      </p:sp>
      <p:pic>
        <p:nvPicPr>
          <p:cNvPr id="10" name="object 11">
            <a:extLst>
              <a:ext uri="{FF2B5EF4-FFF2-40B4-BE49-F238E27FC236}">
                <a16:creationId xmlns:a16="http://schemas.microsoft.com/office/drawing/2014/main" id="{59EE2D49-98DE-4CB9-8E16-86EFD5141EED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67640" y="91025"/>
            <a:ext cx="876300" cy="86452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1801</Words>
  <Application>Microsoft Office PowerPoint</Application>
  <PresentationFormat>Widescreen</PresentationFormat>
  <Paragraphs>209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ASUS</dc:creator>
  <cp:keywords/>
  <dc:description>generated using python-pptx</dc:description>
  <cp:lastModifiedBy>Siddhant Sinha</cp:lastModifiedBy>
  <cp:revision>3</cp:revision>
  <dcterms:created xsi:type="dcterms:W3CDTF">2013-01-27T09:14:16Z</dcterms:created>
  <dcterms:modified xsi:type="dcterms:W3CDTF">2026-09-30T06:46:11Z</dcterms:modified>
  <cp:category/>
</cp:coreProperties>
</file>