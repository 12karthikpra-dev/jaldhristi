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ih_logo_perfec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73152"/>
            <a:ext cx="2240280" cy="1051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32004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973835"/>
                </a:solidFill>
                <a:latin typeface="Calibri"/>
              </a:defRPr>
            </a:pPr>
            <a: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71600"/>
            <a:ext cx="6675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>
                <a:latin typeface="Calibri"/>
              </a:defRPr>
            </a:pPr>
            <a:r>
              <a:rPr sz="1350" b="1">
                <a:solidFill>
                  <a:srgbClr val="000000"/>
                </a:solidFill>
                <a:latin typeface="Arial"/>
              </a:rPr>
              <a:t>•  Problem Statement ID – </a:t>
            </a:r>
            <a:r>
              <a:rPr sz="1350" b="0">
                <a:solidFill>
                  <a:srgbClr val="1F2937"/>
                </a:solidFill>
                <a:latin typeface="Arial"/>
              </a:rPr>
              <a:t>SIH26031 / Open Innovation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00000"/>
                </a:solidFill>
                <a:latin typeface="Arial"/>
              </a:rPr>
              <a:t>•  Problem Statement Title – </a:t>
            </a:r>
            <a:r>
              <a:rPr sz="1350" b="0">
                <a:solidFill>
                  <a:srgbClr val="1F2937"/>
                </a:solidFill>
                <a:latin typeface="Arial"/>
              </a:rPr>
              <a:t>JalDrishti: AI-Powered Geospatial Watershed Siting, Siltation Tracking &amp; Anti-Fraud Verification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00000"/>
                </a:solidFill>
                <a:latin typeface="Arial"/>
              </a:rPr>
              <a:t>•  Theme – </a:t>
            </a:r>
            <a:r>
              <a:rPr sz="1350" b="0">
                <a:solidFill>
                  <a:srgbClr val="1F2937"/>
                </a:solidFill>
                <a:latin typeface="Arial"/>
              </a:rPr>
              <a:t>Agriculture, FoodTech &amp; Rural Development / Smart Automation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00000"/>
                </a:solidFill>
                <a:latin typeface="Arial"/>
              </a:rPr>
              <a:t>•  PS Category – </a:t>
            </a:r>
            <a:r>
              <a:rPr sz="1350" b="0">
                <a:solidFill>
                  <a:srgbClr val="1F2937"/>
                </a:solidFill>
                <a:latin typeface="Arial"/>
              </a:rPr>
              <a:t>Software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00000"/>
                </a:solidFill>
                <a:latin typeface="Arial"/>
              </a:rPr>
              <a:t>•  Team ID – </a:t>
            </a:r>
            <a:r>
              <a:rPr sz="1350" b="0">
                <a:solidFill>
                  <a:srgbClr val="1F2937"/>
                </a:solidFill>
                <a:latin typeface="Arial"/>
              </a:rPr>
              <a:t>T133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00000"/>
                </a:solidFill>
                <a:latin typeface="Arial"/>
              </a:rPr>
              <a:t>•  Team Name – </a:t>
            </a:r>
            <a:r>
              <a:rPr sz="1350" b="0">
                <a:solidFill>
                  <a:srgbClr val="1F2937"/>
                </a:solidFill>
                <a:latin typeface="Arial"/>
              </a:rPr>
              <a:t>Team JalDrishti</a:t>
            </a:r>
          </a:p>
        </p:txBody>
      </p:sp>
      <p:pic>
        <p:nvPicPr>
          <p:cNvPr id="6" name="Picture 5" descr="bulb_perfec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28800"/>
            <a:ext cx="3749039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64224"/>
            <a:ext cx="12191999" cy="493776"/>
          </a:xfrm>
          <a:prstGeom prst="rect">
            <a:avLst/>
          </a:prstGeom>
          <a:solidFill>
            <a:srgbClr val="97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ject 11">
            <a:extLst>
              <a:ext uri="{FF2B5EF4-FFF2-40B4-BE49-F238E27FC236}">
                <a16:creationId xmlns:a16="http://schemas.microsoft.com/office/drawing/2014/main" id="{5BF34AA6-0464-5921-305F-45520862085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7650" y="230678"/>
            <a:ext cx="876300" cy="8645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64224"/>
            <a:ext cx="12191999" cy="493776"/>
          </a:xfrm>
          <a:prstGeom prst="rect">
            <a:avLst/>
          </a:prstGeom>
          <a:solidFill>
            <a:srgbClr val="97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47120" y="6419088"/>
            <a:ext cx="731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pic>
        <p:nvPicPr>
          <p:cNvPr id="6" name="Picture 5" descr="sih_logo_perfec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73152"/>
            <a:ext cx="2240280" cy="1051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0" y="45720"/>
            <a:ext cx="77724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3400" b="1">
                <a:solidFill>
                  <a:srgbClr val="973835"/>
                </a:solidFill>
                <a:latin typeface="Calibri"/>
              </a:defRPr>
            </a:pPr>
            <a:r>
              <a:rPr sz="1800" b="1">
                <a:solidFill>
                  <a:srgbClr val="973835"/>
                </a:solidFill>
                <a:latin typeface="Arial"/>
              </a:rPr>
              <a:t>JALDRISHTI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"/>
            <a:ext cx="868680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700" b="1">
                <a:solidFill>
                  <a:srgbClr val="973835"/>
                </a:solidFill>
                <a:latin typeface="Calibri"/>
              </a:defRPr>
            </a:pPr>
            <a:r>
              <a:rPr sz="1000" b="0">
                <a:solidFill>
                  <a:srgbClr val="4B5563"/>
                </a:solidFill>
                <a:latin typeface="Arial"/>
              </a:rPr>
              <a:t>AI-Powered Geospatial Watershed Intelligence &amp; Verification Platform for Water Security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5486400" cy="457200"/>
          </a:xfrm>
          <a:prstGeom prst="roundRect">
            <a:avLst/>
          </a:prstGeom>
          <a:solidFill>
            <a:srgbClr val="C87A76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sz="1100" b="1">
                <a:solidFill>
                  <a:srgbClr val="FFFFFF"/>
                </a:solidFill>
                <a:latin typeface="Arial"/>
              </a:rPr>
              <a:t>Our Solution</a:t>
            </a:r>
          </a:p>
        </p:txBody>
      </p:sp>
      <p:pic>
        <p:nvPicPr>
          <p:cNvPr id="10" name="Picture 9" descr="icon_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664208"/>
            <a:ext cx="438912" cy="4389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1627632"/>
            <a:ext cx="4937760" cy="621792"/>
          </a:xfrm>
          <a:prstGeom prst="rect">
            <a:avLst/>
          </a:prstGeom>
          <a:noFill/>
        </p:spPr>
        <p:txBody>
          <a:bodyPr wrap="square" tIns="18288" lIns="18288" rIns="18288" bIns="18288">
            <a:spAutoFit/>
          </a:bodyPr>
          <a:lstStyle/>
          <a:p>
            <a:r>
              <a:rPr sz="850" b="1">
                <a:solidFill>
                  <a:srgbClr val="1E3A8A"/>
                </a:solidFill>
                <a:latin typeface="Arial"/>
              </a:rPr>
              <a:t>Full-Viewport Vector GIS: </a:t>
            </a:r>
            <a:r>
              <a:rPr sz="720" b="0">
                <a:solidFill>
                  <a:srgbClr val="1F2937"/>
                </a:solidFill>
                <a:latin typeface="Arial"/>
              </a:rPr>
              <a:t>OpenFreeMap sub-meter vector tile hydrology engine mapping micro-catchments &amp; Strahler streams.</a:t>
            </a:r>
          </a:p>
        </p:txBody>
      </p:sp>
      <p:pic>
        <p:nvPicPr>
          <p:cNvPr id="12" name="Picture 11" descr="icon_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304288"/>
            <a:ext cx="438912" cy="4389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400" y="2267712"/>
            <a:ext cx="4937760" cy="621792"/>
          </a:xfrm>
          <a:prstGeom prst="rect">
            <a:avLst/>
          </a:prstGeom>
          <a:noFill/>
        </p:spPr>
        <p:txBody>
          <a:bodyPr wrap="square" tIns="18288" lIns="18288" rIns="18288" bIns="18288">
            <a:spAutoFit/>
          </a:bodyPr>
          <a:lstStyle/>
          <a:p>
            <a:r>
              <a:rPr sz="850" b="1">
                <a:solidFill>
                  <a:srgbClr val="1E3A8A"/>
                </a:solidFill>
                <a:latin typeface="Arial"/>
              </a:rPr>
              <a:t>AI Siting Optimizer: </a:t>
            </a:r>
            <a:r>
              <a:rPr sz="720" b="0">
                <a:solidFill>
                  <a:srgbClr val="1F2937"/>
                </a:solidFill>
                <a:latin typeface="Arial"/>
              </a:rPr>
              <a:t>Automated DEM slope %, catchment ha &amp; runoff yield modeling for 0–100% check-dam suitability.</a:t>
            </a:r>
          </a:p>
        </p:txBody>
      </p:sp>
      <p:pic>
        <p:nvPicPr>
          <p:cNvPr id="14" name="Picture 13" descr="icon_meas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2944367"/>
            <a:ext cx="438912" cy="4389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400" y="2907791"/>
            <a:ext cx="4937760" cy="621792"/>
          </a:xfrm>
          <a:prstGeom prst="rect">
            <a:avLst/>
          </a:prstGeom>
          <a:noFill/>
        </p:spPr>
        <p:txBody>
          <a:bodyPr wrap="square" tIns="18288" lIns="18288" rIns="18288" bIns="18288">
            <a:spAutoFit/>
          </a:bodyPr>
          <a:lstStyle/>
          <a:p>
            <a:r>
              <a:rPr sz="850" b="1">
                <a:solidFill>
                  <a:srgbClr val="1E3A8A"/>
                </a:solidFill>
                <a:latin typeface="Arial"/>
              </a:rPr>
              <a:t>Multi-Layer Neural Forensics: </a:t>
            </a:r>
            <a:r>
              <a:rPr sz="720" b="0">
                <a:solidFill>
                  <a:srgbClr val="1F2937"/>
                </a:solidFill>
                <a:latin typeface="Arial"/>
              </a:rPr>
              <a:t>CMOS optical sensor Bayer noise &amp; EXIF integrity scanner to eliminate ghost infrastructure.</a:t>
            </a:r>
          </a:p>
        </p:txBody>
      </p:sp>
      <p:pic>
        <p:nvPicPr>
          <p:cNvPr id="16" name="Picture 15" descr="icon_repo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3584448"/>
            <a:ext cx="438912" cy="4389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4400" y="3547872"/>
            <a:ext cx="4937760" cy="621792"/>
          </a:xfrm>
          <a:prstGeom prst="rect">
            <a:avLst/>
          </a:prstGeom>
          <a:noFill/>
        </p:spPr>
        <p:txBody>
          <a:bodyPr wrap="square" tIns="18288" lIns="18288" rIns="18288" bIns="18288">
            <a:spAutoFit/>
          </a:bodyPr>
          <a:lstStyle/>
          <a:p>
            <a:r>
              <a:rPr sz="850" b="1">
                <a:solidFill>
                  <a:srgbClr val="1E3A8A"/>
                </a:solidFill>
                <a:latin typeface="Arial"/>
              </a:rPr>
              <a:t>Live IoT Mesh &amp; Satellite: </a:t>
            </a:r>
            <a:r>
              <a:rPr sz="720" b="0">
                <a:solidFill>
                  <a:srgbClr val="1F2937"/>
                </a:solidFill>
                <a:latin typeface="Arial"/>
              </a:rPr>
              <a:t>Real-time LoRaWAN/4G telemetry for groundwater &amp; silt alerts + Sentinel-2 5-season NDVI playback.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126480" y="1051560"/>
          <a:ext cx="56692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792">
                <a:tc>
                  <a:txBody>
                    <a:bodyPr wrap="square" lIns="45720" rIns="45720" tIns="27432" bIns="27432"/>
                    <a:lstStyle/>
                    <a:p>
                      <a:pPr>
                        <a:defRPr sz="1300" b="1">
                          <a:solidFill>
                            <a:srgbClr val="973835"/>
                          </a:solidFill>
                          <a:latin typeface="Calibri"/>
                        </a:defRPr>
                      </a:pPr>
                      <a:r>
                        <a:rPr sz="850" b="1">
                          <a:solidFill>
                            <a:srgbClr val="973835"/>
                          </a:solidFill>
                          <a:latin typeface="Arial"/>
                        </a:rPr>
                        <a:t>Problem today</a:t>
                      </a:r>
                    </a:p>
                  </a:txBody>
                  <a:tcPr>
                    <a:solidFill>
                      <a:srgbClr val="FDF5F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>
                        <a:defRPr sz="1300" b="1">
                          <a:solidFill>
                            <a:srgbClr val="973835"/>
                          </a:solidFill>
                          <a:latin typeface="Calibri"/>
                        </a:defRPr>
                      </a:pPr>
                      <a:r>
                        <a:rPr sz="850" b="1">
                          <a:solidFill>
                            <a:srgbClr val="973835"/>
                          </a:solidFill>
                          <a:latin typeface="Arial"/>
                        </a:rPr>
                        <a:t>How our solution fixes it</a:t>
                      </a:r>
                    </a:p>
                  </a:txBody>
                  <a:tcPr>
                    <a:solidFill>
                      <a:srgbClr val="F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 wrap="square" lIns="45720" rIns="45720" tIns="27432" bIns="27432"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720" b="0">
                          <a:solidFill>
                            <a:srgbClr val="1F2937"/>
                          </a:solidFill>
                          <a:latin typeface="Arial"/>
                        </a:rPr>
                        <a:t>Unscientific Siting: Check-dams placed by guesswork, failing to recharge water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>
                        <a:defRPr sz="1100">
                          <a:solidFill>
                            <a:srgbClr val="973835"/>
                          </a:solidFill>
                          <a:latin typeface="Calibri"/>
                        </a:defRPr>
                      </a:pPr>
                      <a:r>
                        <a:rPr sz="720" b="0">
                          <a:solidFill>
                            <a:srgbClr val="973835"/>
                          </a:solidFill>
                          <a:latin typeface="Arial"/>
                        </a:rPr>
                        <a:t>AI Siting Optimizer: Algorithmic DEM slope %, catchment area &amp; runoff calculation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 wrap="square" lIns="45720" rIns="45720" tIns="27432" bIns="27432"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720" b="0">
                          <a:solidFill>
                            <a:srgbClr val="1F2937"/>
                          </a:solidFill>
                          <a:latin typeface="Arial"/>
                        </a:rPr>
                        <a:t>Ghost Infrastructure: Re-used &amp; synthetic photos claim completion funds</a:t>
                      </a:r>
                    </a:p>
                  </a:txBody>
                  <a:tcPr>
                    <a:solidFill>
                      <a:srgbClr val="FDF5F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>
                        <a:defRPr sz="1100">
                          <a:solidFill>
                            <a:srgbClr val="973835"/>
                          </a:solidFill>
                          <a:latin typeface="Calibri"/>
                        </a:defRPr>
                      </a:pPr>
                      <a:r>
                        <a:rPr sz="720" b="0">
                          <a:solidFill>
                            <a:srgbClr val="973835"/>
                          </a:solidFill>
                          <a:latin typeface="Arial"/>
                        </a:rPr>
                        <a:t>Multi-Layer Neural Forensics: CMOS Bayer noise &amp; EXIF integrity audit flags fake photos</a:t>
                      </a:r>
                    </a:p>
                  </a:txBody>
                  <a:tcPr>
                    <a:solidFill>
                      <a:srgbClr val="F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 wrap="square" lIns="45720" rIns="45720" tIns="27432" bIns="27432"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720" b="0">
                          <a:solidFill>
                            <a:srgbClr val="1F2937"/>
                          </a:solidFill>
                          <a:latin typeface="Arial"/>
                        </a:rPr>
                        <a:t>30–60 Day Paper Delays: Field reports take months to reach Zilla Parishads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>
                        <a:defRPr sz="1100">
                          <a:solidFill>
                            <a:srgbClr val="973835"/>
                          </a:solidFill>
                          <a:latin typeface="Calibri"/>
                        </a:defRPr>
                      </a:pPr>
                      <a:r>
                        <a:rPr sz="720" b="0">
                          <a:solidFill>
                            <a:srgbClr val="973835"/>
                          </a:solidFill>
                          <a:latin typeface="Arial"/>
                        </a:rPr>
                        <a:t>Sub-Second IoT Telemetry: Real-time 4G/LoRaWAN groundwater depth &amp; silt alerts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 wrap="square" lIns="45720" rIns="45720" tIns="27432" bIns="27432"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rPr sz="720" b="0">
                          <a:solidFill>
                            <a:srgbClr val="1F2937"/>
                          </a:solidFill>
                          <a:latin typeface="Arial"/>
                        </a:rPr>
                        <a:t>Unmeasured Impact: Lack of pre/post monsoon vegetation &amp; water spread tracking</a:t>
                      </a:r>
                    </a:p>
                  </a:txBody>
                  <a:tcPr>
                    <a:solidFill>
                      <a:srgbClr val="FDF5F5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>
                        <a:defRPr sz="1100">
                          <a:solidFill>
                            <a:srgbClr val="973835"/>
                          </a:solidFill>
                          <a:latin typeface="Calibri"/>
                        </a:defRPr>
                      </a:pPr>
                      <a:r>
                        <a:rPr sz="720" b="0">
                          <a:solidFill>
                            <a:srgbClr val="973835"/>
                          </a:solidFill>
                          <a:latin typeface="Arial"/>
                        </a:rPr>
                        <a:t>Sentinel-2 Satellite Playback: 5-season multi-spectral NDVI &amp; NDWI analytics</a:t>
                      </a:r>
                    </a:p>
                  </a:txBody>
                  <a:tcPr>
                    <a:solidFill>
                      <a:srgbClr val="FD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65760" y="4343400"/>
            <a:ext cx="2194560" cy="1874519"/>
          </a:xfrm>
          <a:prstGeom prst="roundRect">
            <a:avLst/>
          </a:prstGeom>
          <a:solidFill>
            <a:srgbClr val="FDF5F5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57200" y="4434840"/>
            <a:ext cx="2011680" cy="384048"/>
          </a:xfrm>
          <a:prstGeom prst="roundRect">
            <a:avLst/>
          </a:prstGeom>
          <a:solidFill>
            <a:srgbClr val="C8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sz="780" b="1">
                <a:solidFill>
                  <a:srgbClr val="FFFFFF"/>
                </a:solidFill>
                <a:latin typeface="Arial"/>
              </a:rPr>
              <a:t>1. Catchment Ingestion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46320"/>
            <a:ext cx="2011680" cy="12801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050">
                <a:solidFill>
                  <a:srgbClr val="212529"/>
                </a:solidFill>
                <a:latin typeface="Calibri"/>
              </a:defRPr>
            </a:pPr>
            <a:r>
              <a:rPr sz="680" b="0">
                <a:solidFill>
                  <a:srgbClr val="1F2937"/>
                </a:solidFill>
                <a:latin typeface="Arial"/>
              </a:rPr>
              <a:t>Sub-meter vector basin delineation &amp; Strahler 1st-3rd order stream classification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70048" y="4343400"/>
            <a:ext cx="2194560" cy="1874519"/>
          </a:xfrm>
          <a:prstGeom prst="roundRect">
            <a:avLst/>
          </a:prstGeom>
          <a:solidFill>
            <a:srgbClr val="FDF5F5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761488" y="4434840"/>
            <a:ext cx="2011680" cy="384048"/>
          </a:xfrm>
          <a:prstGeom prst="roundRect">
            <a:avLst/>
          </a:prstGeom>
          <a:solidFill>
            <a:srgbClr val="C8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sz="780" b="1">
                <a:solidFill>
                  <a:srgbClr val="FFFFFF"/>
                </a:solidFill>
                <a:latin typeface="Arial"/>
              </a:rPr>
              <a:t>2. AI Siting Optimization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1488" y="4846320"/>
            <a:ext cx="2011680" cy="12801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050">
                <a:solidFill>
                  <a:srgbClr val="212529"/>
                </a:solidFill>
                <a:latin typeface="Calibri"/>
              </a:defRPr>
            </a:pPr>
            <a:r>
              <a:rPr sz="680" b="0">
                <a:solidFill>
                  <a:srgbClr val="1F2937"/>
                </a:solidFill>
                <a:latin typeface="Arial"/>
              </a:rPr>
              <a:t>Algorithmic DEM slope %, drainage convergence &amp; water yield storage calculation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74336" y="4343400"/>
            <a:ext cx="2194560" cy="1874519"/>
          </a:xfrm>
          <a:prstGeom prst="roundRect">
            <a:avLst/>
          </a:prstGeom>
          <a:solidFill>
            <a:srgbClr val="FDF5F5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065776" y="4434840"/>
            <a:ext cx="2011680" cy="384048"/>
          </a:xfrm>
          <a:prstGeom prst="roundRect">
            <a:avLst/>
          </a:prstGeom>
          <a:solidFill>
            <a:srgbClr val="C8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sz="780" b="1">
                <a:solidFill>
                  <a:srgbClr val="FFFFFF"/>
                </a:solidFill>
                <a:latin typeface="Arial"/>
              </a:rPr>
              <a:t>3. Field Evidence Capture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65776" y="4846320"/>
            <a:ext cx="2011680" cy="12801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050">
                <a:solidFill>
                  <a:srgbClr val="212529"/>
                </a:solidFill>
                <a:latin typeface="Calibri"/>
              </a:defRPr>
            </a:pPr>
            <a:r>
              <a:rPr sz="680" b="0">
                <a:solidFill>
                  <a:srgbClr val="1F2937"/>
                </a:solidFill>
                <a:latin typeface="Arial"/>
              </a:rPr>
              <a:t>Mobile geo-tagged photo capture with client-side SHA-256 hashing &amp; EXIF verification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78624" y="4343400"/>
            <a:ext cx="2194560" cy="1874519"/>
          </a:xfrm>
          <a:prstGeom prst="roundRect">
            <a:avLst/>
          </a:prstGeom>
          <a:solidFill>
            <a:srgbClr val="FDF5F5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370064" y="4434840"/>
            <a:ext cx="2011680" cy="384048"/>
          </a:xfrm>
          <a:prstGeom prst="roundRect">
            <a:avLst/>
          </a:prstGeom>
          <a:solidFill>
            <a:srgbClr val="C8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sz="780" b="1">
                <a:solidFill>
                  <a:srgbClr val="FFFFFF"/>
                </a:solidFill>
                <a:latin typeface="Arial"/>
              </a:rPr>
              <a:t>4. Neural AI Forensics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0064" y="4846320"/>
            <a:ext cx="2011680" cy="12801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050">
                <a:solidFill>
                  <a:srgbClr val="212529"/>
                </a:solidFill>
                <a:latin typeface="Calibri"/>
              </a:defRPr>
            </a:pPr>
            <a:r>
              <a:rPr sz="680" b="0">
                <a:solidFill>
                  <a:srgbClr val="1F2937"/>
                </a:solidFill>
                <a:latin typeface="Arial"/>
              </a:rPr>
              <a:t>CMOS sensor Bayer noise vs diffusion anomaly scan to verify genuine construction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82912" y="4343400"/>
            <a:ext cx="2194560" cy="1874519"/>
          </a:xfrm>
          <a:prstGeom prst="roundRect">
            <a:avLst/>
          </a:prstGeom>
          <a:solidFill>
            <a:srgbClr val="FDF5F5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674352" y="4434840"/>
            <a:ext cx="2011680" cy="384048"/>
          </a:xfrm>
          <a:prstGeom prst="roundRect">
            <a:avLst/>
          </a:prstGeom>
          <a:solidFill>
            <a:srgbClr val="C8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sz="780" b="1">
                <a:solidFill>
                  <a:srgbClr val="FFFFFF"/>
                </a:solidFill>
                <a:latin typeface="Arial"/>
              </a:rPr>
              <a:t>5. Milestone Fund &amp; IoT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4352" y="4846320"/>
            <a:ext cx="2011680" cy="12801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050">
                <a:solidFill>
                  <a:srgbClr val="212529"/>
                </a:solidFill>
                <a:latin typeface="Calibri"/>
              </a:defRPr>
            </a:pPr>
            <a:r>
              <a:rPr sz="680" b="0">
                <a:solidFill>
                  <a:srgbClr val="1F2937"/>
                </a:solidFill>
                <a:latin typeface="Arial"/>
              </a:rPr>
              <a:t>Automated cryptographic audit certificate for fund release + continuous LoRaWAN telemetry</a:t>
            </a:r>
          </a:p>
        </p:txBody>
      </p:sp>
      <p:pic>
        <p:nvPicPr>
          <p:cNvPr id="35" name="object 11">
            <a:extLst>
              <a:ext uri="{FF2B5EF4-FFF2-40B4-BE49-F238E27FC236}">
                <a16:creationId xmlns:a16="http://schemas.microsoft.com/office/drawing/2014/main" id="{A1EFDAFB-6082-2913-C8F5-32EBF1425E02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200" y="15632"/>
            <a:ext cx="876300" cy="8645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ih_logo_perfec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73152"/>
            <a:ext cx="2240280" cy="1051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973835"/>
                </a:solidFill>
                <a:latin typeface="Calibri"/>
              </a:defRPr>
            </a:pPr>
            <a:r>
              <a:t>TECHNICAL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64224"/>
            <a:ext cx="12191999" cy="493776"/>
          </a:xfrm>
          <a:prstGeom prst="rect">
            <a:avLst/>
          </a:prstGeom>
          <a:solidFill>
            <a:srgbClr val="97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Calibri"/>
              </a:defRPr>
            </a:pPr>
            <a:r>
              <a:t>Tech Stack -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63040"/>
            <a:ext cx="2468880" cy="530352"/>
          </a:xfrm>
          <a:prstGeom prst="roundRect">
            <a:avLst/>
          </a:prstGeom>
          <a:solidFill>
            <a:srgbClr val="FDF5F5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tlCol="0" anchor="ctr" lIns="36576" rIns="36576" bIns="36576"/>
          <a:lstStyle/>
          <a:p>
            <a:pPr algn="ctr">
              <a:defRPr sz="1100" b="1">
                <a:solidFill>
                  <a:srgbClr val="973835"/>
                </a:solidFill>
                <a:latin typeface="Calibri"/>
              </a:defRPr>
            </a:pPr>
            <a:r>
              <a:rPr sz="750" b="1">
                <a:solidFill>
                  <a:srgbClr val="973835"/>
                </a:solidFill>
                <a:latin typeface="Arial"/>
              </a:rPr>
              <a:t>Vanilla JS / HTML5 / Tailwind</a:t>
            </a:r>
          </a:p>
          <a:p>
            <a:pPr algn="ctr">
              <a:spcBef>
                <a:spcPts val="200"/>
              </a:spcBef>
            </a:pPr>
            <a:r>
              <a:rPr sz="650" b="0">
                <a:solidFill>
                  <a:srgbClr val="4B5563"/>
                </a:solidFill>
                <a:latin typeface="Arial"/>
              </a:rPr>
              <a:t>GIS Command Center &amp; Field Web 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057400"/>
            <a:ext cx="2468880" cy="530352"/>
          </a:xfrm>
          <a:prstGeom prst="roundRect">
            <a:avLst/>
          </a:prstGeom>
          <a:solidFill>
            <a:srgbClr val="FDF5F5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tlCol="0" anchor="ctr" lIns="36576" rIns="36576" bIns="36576"/>
          <a:lstStyle/>
          <a:p>
            <a:pPr algn="ctr">
              <a:defRPr sz="1100" b="1">
                <a:solidFill>
                  <a:srgbClr val="973835"/>
                </a:solidFill>
                <a:latin typeface="Calibri"/>
              </a:defRPr>
            </a:pPr>
            <a:r>
              <a:rPr sz="750" b="1">
                <a:solidFill>
                  <a:srgbClr val="973835"/>
                </a:solidFill>
                <a:latin typeface="Arial"/>
              </a:rPr>
              <a:t>OpenFreeMap / MapLibre GL</a:t>
            </a:r>
          </a:p>
          <a:p>
            <a:pPr algn="ctr">
              <a:spcBef>
                <a:spcPts val="200"/>
              </a:spcBef>
            </a:pPr>
            <a:r>
              <a:rPr sz="650" b="0">
                <a:solidFill>
                  <a:srgbClr val="4B5563"/>
                </a:solidFill>
                <a:latin typeface="Arial"/>
              </a:rPr>
              <a:t>Sub-meter Vector Tile Hydrology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651760"/>
            <a:ext cx="2468880" cy="530352"/>
          </a:xfrm>
          <a:prstGeom prst="roundRect">
            <a:avLst/>
          </a:prstGeom>
          <a:solidFill>
            <a:srgbClr val="FDF5F5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tlCol="0" anchor="ctr" lIns="36576" rIns="36576" bIns="36576"/>
          <a:lstStyle/>
          <a:p>
            <a:pPr algn="ctr">
              <a:defRPr sz="1100" b="1">
                <a:solidFill>
                  <a:srgbClr val="973835"/>
                </a:solidFill>
                <a:latin typeface="Calibri"/>
              </a:defRPr>
            </a:pPr>
            <a:r>
              <a:rPr sz="750" b="1">
                <a:solidFill>
                  <a:srgbClr val="973835"/>
                </a:solidFill>
                <a:latin typeface="Arial"/>
              </a:rPr>
              <a:t>Leaflet.js &amp; Chart.js</a:t>
            </a:r>
          </a:p>
          <a:p>
            <a:pPr algn="ctr">
              <a:spcBef>
                <a:spcPts val="200"/>
              </a:spcBef>
            </a:pPr>
            <a:r>
              <a:rPr sz="650" b="0">
                <a:solidFill>
                  <a:srgbClr val="4B5563"/>
                </a:solidFill>
                <a:latin typeface="Arial"/>
              </a:rPr>
              <a:t>Interactive GIS Layers &amp; Telemetry Charts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246120"/>
            <a:ext cx="2468880" cy="530352"/>
          </a:xfrm>
          <a:prstGeom prst="roundRect">
            <a:avLst/>
          </a:prstGeom>
          <a:solidFill>
            <a:srgbClr val="FDF5F5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tlCol="0" anchor="ctr" lIns="36576" rIns="36576" bIns="36576"/>
          <a:lstStyle/>
          <a:p>
            <a:pPr algn="ctr">
              <a:defRPr sz="1100" b="1">
                <a:solidFill>
                  <a:srgbClr val="973835"/>
                </a:solidFill>
                <a:latin typeface="Calibri"/>
              </a:defRPr>
            </a:pPr>
            <a:r>
              <a:rPr sz="750" b="1">
                <a:solidFill>
                  <a:srgbClr val="973835"/>
                </a:solidFill>
                <a:latin typeface="Arial"/>
              </a:rPr>
              <a:t>PyTorch / OpenCV</a:t>
            </a:r>
          </a:p>
          <a:p>
            <a:pPr algn="ctr">
              <a:spcBef>
                <a:spcPts val="200"/>
              </a:spcBef>
            </a:pPr>
            <a:r>
              <a:rPr sz="650" b="0">
                <a:solidFill>
                  <a:srgbClr val="4B5563"/>
                </a:solidFill>
                <a:latin typeface="Arial"/>
              </a:rPr>
              <a:t>CMOS Bayer Noise &amp; Tamper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840480"/>
            <a:ext cx="2468880" cy="530352"/>
          </a:xfrm>
          <a:prstGeom prst="roundRect">
            <a:avLst/>
          </a:prstGeom>
          <a:solidFill>
            <a:srgbClr val="FDF5F5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tlCol="0" anchor="ctr" lIns="36576" rIns="36576" bIns="36576"/>
          <a:lstStyle/>
          <a:p>
            <a:pPr algn="ctr">
              <a:defRPr sz="1100" b="1">
                <a:solidFill>
                  <a:srgbClr val="973835"/>
                </a:solidFill>
                <a:latin typeface="Calibri"/>
              </a:defRPr>
            </a:pPr>
            <a:r>
              <a:rPr sz="750" b="1">
                <a:solidFill>
                  <a:srgbClr val="973835"/>
                </a:solidFill>
                <a:latin typeface="Arial"/>
              </a:rPr>
              <a:t>DEM Hydro-Solver Engine</a:t>
            </a:r>
          </a:p>
          <a:p>
            <a:pPr algn="ctr">
              <a:spcBef>
                <a:spcPts val="200"/>
              </a:spcBef>
            </a:pPr>
            <a:r>
              <a:rPr sz="650" b="0">
                <a:solidFill>
                  <a:srgbClr val="4B5563"/>
                </a:solidFill>
                <a:latin typeface="Arial"/>
              </a:rPr>
              <a:t>Automated SCS-CN Runoff &amp; Siting Formula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434840"/>
            <a:ext cx="2468880" cy="530352"/>
          </a:xfrm>
          <a:prstGeom prst="roundRect">
            <a:avLst/>
          </a:prstGeom>
          <a:solidFill>
            <a:srgbClr val="FDF5F5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tlCol="0" anchor="ctr" lIns="36576" rIns="36576" bIns="36576"/>
          <a:lstStyle/>
          <a:p>
            <a:pPr algn="ctr">
              <a:defRPr sz="1100" b="1">
                <a:solidFill>
                  <a:srgbClr val="973835"/>
                </a:solidFill>
                <a:latin typeface="Calibri"/>
              </a:defRPr>
            </a:pPr>
            <a:r>
              <a:rPr sz="750" b="1">
                <a:solidFill>
                  <a:srgbClr val="973835"/>
                </a:solidFill>
                <a:latin typeface="Arial"/>
              </a:rPr>
              <a:t>LoRaWAN &amp; 4G LTE-M</a:t>
            </a:r>
          </a:p>
          <a:p>
            <a:pPr algn="ctr">
              <a:spcBef>
                <a:spcPts val="200"/>
              </a:spcBef>
            </a:pPr>
            <a:r>
              <a:rPr sz="650" b="0">
                <a:solidFill>
                  <a:srgbClr val="4B5563"/>
                </a:solidFill>
                <a:latin typeface="Arial"/>
              </a:rPr>
              <a:t>Solar Micro-RTU Groundwater &amp; Silt Mesh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029200"/>
            <a:ext cx="2468880" cy="530352"/>
          </a:xfrm>
          <a:prstGeom prst="roundRect">
            <a:avLst/>
          </a:prstGeom>
          <a:solidFill>
            <a:srgbClr val="FDF5F5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tlCol="0" anchor="ctr" lIns="36576" rIns="36576" bIns="36576"/>
          <a:lstStyle/>
          <a:p>
            <a:pPr algn="ctr">
              <a:defRPr sz="1100" b="1">
                <a:solidFill>
                  <a:srgbClr val="973835"/>
                </a:solidFill>
                <a:latin typeface="Calibri"/>
              </a:defRPr>
            </a:pPr>
            <a:r>
              <a:rPr sz="750" b="1">
                <a:solidFill>
                  <a:srgbClr val="973835"/>
                </a:solidFill>
                <a:latin typeface="Arial"/>
              </a:rPr>
              <a:t>Sentinel-2 MSI (ESA)</a:t>
            </a:r>
          </a:p>
          <a:p>
            <a:pPr algn="ctr">
              <a:spcBef>
                <a:spcPts val="200"/>
              </a:spcBef>
            </a:pPr>
            <a:r>
              <a:rPr sz="650" b="0">
                <a:solidFill>
                  <a:srgbClr val="4B5563"/>
                </a:solidFill>
                <a:latin typeface="Arial"/>
              </a:rPr>
              <a:t>5-Season Multi-Spectral NDVI / NDWI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623560"/>
            <a:ext cx="2468880" cy="530352"/>
          </a:xfrm>
          <a:prstGeom prst="roundRect">
            <a:avLst/>
          </a:prstGeom>
          <a:solidFill>
            <a:srgbClr val="FDF5F5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tlCol="0" anchor="ctr" lIns="36576" rIns="36576" bIns="36576"/>
          <a:lstStyle/>
          <a:p>
            <a:pPr algn="ctr">
              <a:defRPr sz="1100" b="1">
                <a:solidFill>
                  <a:srgbClr val="973835"/>
                </a:solidFill>
                <a:latin typeface="Calibri"/>
              </a:defRPr>
            </a:pPr>
            <a:r>
              <a:rPr sz="750" b="1">
                <a:solidFill>
                  <a:srgbClr val="973835"/>
                </a:solidFill>
                <a:latin typeface="Arial"/>
              </a:rPr>
              <a:t>SHA-256 &amp; EXIF Digest</a:t>
            </a:r>
          </a:p>
          <a:p>
            <a:pPr algn="ctr">
              <a:spcBef>
                <a:spcPts val="200"/>
              </a:spcBef>
            </a:pPr>
            <a:r>
              <a:rPr sz="650" b="0">
                <a:solidFill>
                  <a:srgbClr val="4B5563"/>
                </a:solidFill>
                <a:latin typeface="Arial"/>
              </a:rPr>
              <a:t>Tamper-Proof Audit Certificate Cryptography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1097280"/>
            <a:ext cx="621792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5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154680" y="1188720"/>
            <a:ext cx="5943600" cy="411480"/>
          </a:xfrm>
          <a:prstGeom prst="roundRect">
            <a:avLst/>
          </a:prstGeom>
          <a:solidFill>
            <a:srgbClr val="23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sz="850" b="1">
                <a:solidFill>
                  <a:srgbClr val="FFFFFF"/>
                </a:solidFill>
                <a:latin typeface="Arial"/>
              </a:rPr>
              <a:t>1   Approach 1 – Vector GIS Hydrology &amp; AI Siting Optimization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54680" y="1691640"/>
            <a:ext cx="1417320" cy="1691640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235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36576" rIns="36576" tIns="36576" bIns="36576"/>
          <a:lstStyle/>
          <a:p>
            <a:pPr algn="ctr">
              <a:defRPr sz="1100" b="1">
                <a:solidFill>
                  <a:srgbClr val="235FAF"/>
                </a:solidFill>
                <a:latin typeface="Calibri"/>
              </a:defRPr>
            </a:pPr>
            <a:r>
              <a:rPr sz="720" b="1">
                <a:solidFill>
                  <a:srgbClr val="1E3A8A"/>
                </a:solidFill>
                <a:latin typeface="Arial"/>
              </a:rPr>
              <a:t>Catchment Ingestion</a:t>
            </a:r>
          </a:p>
          <a:p>
            <a:pPr algn="ctr">
              <a:spcBef>
                <a:spcPts val="200"/>
              </a:spcBef>
            </a:pPr>
            <a:r>
              <a:rPr sz="620" b="0">
                <a:solidFill>
                  <a:srgbClr val="1F2937"/>
                </a:solidFill>
                <a:latin typeface="Arial"/>
              </a:rPr>
              <a:t>Sub-meter polygon delineation &amp; Strahler 1st-3rd order stream hierarchy classification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1691640"/>
            <a:ext cx="1417320" cy="1691640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235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36576" rIns="36576" tIns="36576" bIns="36576"/>
          <a:lstStyle/>
          <a:p>
            <a:pPr algn="ctr">
              <a:defRPr sz="1100" b="1">
                <a:solidFill>
                  <a:srgbClr val="235FAF"/>
                </a:solidFill>
                <a:latin typeface="Calibri"/>
              </a:defRPr>
            </a:pPr>
            <a:r>
              <a:rPr sz="720" b="1">
                <a:solidFill>
                  <a:srgbClr val="1E3A8A"/>
                </a:solidFill>
                <a:latin typeface="Arial"/>
              </a:rPr>
              <a:t>DEM Slope Gradient</a:t>
            </a:r>
          </a:p>
          <a:p>
            <a:pPr algn="ctr">
              <a:spcBef>
                <a:spcPts val="200"/>
              </a:spcBef>
            </a:pPr>
            <a:r>
              <a:rPr sz="620" b="0">
                <a:solidFill>
                  <a:srgbClr val="1F2937"/>
                </a:solidFill>
                <a:latin typeface="Arial"/>
              </a:rPr>
              <a:t>Automated DEM slope contour calculation (ideal 3%-12% for masonry check-dams)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17336" y="1691640"/>
            <a:ext cx="1417320" cy="1691640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235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36576" rIns="36576" tIns="36576" bIns="36576"/>
          <a:lstStyle/>
          <a:p>
            <a:pPr algn="ctr">
              <a:defRPr sz="1100" b="1">
                <a:solidFill>
                  <a:srgbClr val="235FAF"/>
                </a:solidFill>
                <a:latin typeface="Calibri"/>
              </a:defRPr>
            </a:pPr>
            <a:r>
              <a:rPr sz="720" b="1">
                <a:solidFill>
                  <a:srgbClr val="1E3A8A"/>
                </a:solidFill>
                <a:latin typeface="Arial"/>
              </a:rPr>
              <a:t>SCS-CN Runoff Model</a:t>
            </a:r>
          </a:p>
          <a:p>
            <a:pPr algn="ctr">
              <a:spcBef>
                <a:spcPts val="200"/>
              </a:spcBef>
            </a:pPr>
            <a:r>
              <a:rPr sz="620" b="0">
                <a:solidFill>
                  <a:srgbClr val="1F2937"/>
                </a:solidFill>
                <a:latin typeface="Arial"/>
              </a:rPr>
              <a:t>Estimates potential maximum soil water retention and seasonal runoff yield volume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98664" y="1691640"/>
            <a:ext cx="1417320" cy="1691640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235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36576" rIns="36576" tIns="36576" bIns="36576"/>
          <a:lstStyle/>
          <a:p>
            <a:pPr algn="ctr">
              <a:defRPr sz="1100" b="1">
                <a:solidFill>
                  <a:srgbClr val="235FAF"/>
                </a:solidFill>
                <a:latin typeface="Calibri"/>
              </a:defRPr>
            </a:pPr>
            <a:r>
              <a:rPr sz="720" b="1">
                <a:solidFill>
                  <a:srgbClr val="1E3A8A"/>
                </a:solidFill>
                <a:latin typeface="Arial"/>
              </a:rPr>
              <a:t>Algorithmic Verdict</a:t>
            </a:r>
          </a:p>
          <a:p>
            <a:pPr algn="ctr">
              <a:spcBef>
                <a:spcPts val="200"/>
              </a:spcBef>
            </a:pPr>
            <a:r>
              <a:rPr sz="620" b="0">
                <a:solidFill>
                  <a:srgbClr val="1F2937"/>
                </a:solidFill>
                <a:latin typeface="Arial"/>
              </a:rPr>
              <a:t>Instant 0-100% suitability score + recommended hydraulic structure &amp; capacity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17520" y="3703320"/>
            <a:ext cx="621792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8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154680" y="3794760"/>
            <a:ext cx="5943600" cy="411480"/>
          </a:xfrm>
          <a:prstGeom prst="roundRect">
            <a:avLst/>
          </a:prstGeom>
          <a:solidFill>
            <a:srgbClr val="238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sz="850" b="1">
                <a:solidFill>
                  <a:srgbClr val="FFFFFF"/>
                </a:solidFill>
                <a:latin typeface="Arial"/>
              </a:rPr>
              <a:t>2   Approach 2 – Multi-Layer Neural AI Forensics &amp; IoT Telemetry Mesh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54680" y="4297680"/>
            <a:ext cx="1417320" cy="16916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38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36576" rIns="36576" tIns="36576" bIns="36576"/>
          <a:lstStyle/>
          <a:p>
            <a:pPr algn="ctr">
              <a:defRPr sz="1100" b="1">
                <a:solidFill>
                  <a:srgbClr val="238741"/>
                </a:solidFill>
                <a:latin typeface="Calibri"/>
              </a:defRPr>
            </a:pPr>
            <a:r>
              <a:rPr sz="720" b="1">
                <a:solidFill>
                  <a:srgbClr val="14532D"/>
                </a:solidFill>
                <a:latin typeface="Arial"/>
              </a:rPr>
              <a:t>Optical Noise Check</a:t>
            </a:r>
          </a:p>
          <a:p>
            <a:pPr algn="ctr">
              <a:spcBef>
                <a:spcPts val="200"/>
              </a:spcBef>
            </a:pPr>
            <a:r>
              <a:rPr sz="620" b="0">
                <a:solidFill>
                  <a:srgbClr val="1F2937"/>
                </a:solidFill>
                <a:latin typeface="Arial"/>
              </a:rPr>
              <a:t>Evaluates high-frequency CMOS photon noise variance to distinguish real cameras from AI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36008" y="4297680"/>
            <a:ext cx="1417320" cy="16916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38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36576" rIns="36576" tIns="36576" bIns="36576"/>
          <a:lstStyle/>
          <a:p>
            <a:pPr algn="ctr">
              <a:defRPr sz="1100" b="1">
                <a:solidFill>
                  <a:srgbClr val="238741"/>
                </a:solidFill>
                <a:latin typeface="Calibri"/>
              </a:defRPr>
            </a:pPr>
            <a:r>
              <a:rPr sz="720" b="1">
                <a:solidFill>
                  <a:srgbClr val="14532D"/>
                </a:solidFill>
                <a:latin typeface="Arial"/>
              </a:rPr>
              <a:t>EXIF Cryptography</a:t>
            </a:r>
          </a:p>
          <a:p>
            <a:pPr algn="ctr">
              <a:spcBef>
                <a:spcPts val="200"/>
              </a:spcBef>
            </a:pPr>
            <a:r>
              <a:rPr sz="620" b="0">
                <a:solidFill>
                  <a:srgbClr val="1F2937"/>
                </a:solidFill>
                <a:latin typeface="Arial"/>
              </a:rPr>
              <a:t>Verifies GPS coordinates, timestamp integrity, and camera hardware lens signatures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17336" y="4297680"/>
            <a:ext cx="1417320" cy="16916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38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36576" rIns="36576" tIns="36576" bIns="36576"/>
          <a:lstStyle/>
          <a:p>
            <a:pPr algn="ctr">
              <a:defRPr sz="1100" b="1">
                <a:solidFill>
                  <a:srgbClr val="238741"/>
                </a:solidFill>
                <a:latin typeface="Calibri"/>
              </a:defRPr>
            </a:pPr>
            <a:r>
              <a:rPr sz="720" b="1">
                <a:solidFill>
                  <a:srgbClr val="14532D"/>
                </a:solidFill>
                <a:latin typeface="Arial"/>
              </a:rPr>
              <a:t>LoRaWAN Sensor Mesh</a:t>
            </a:r>
          </a:p>
          <a:p>
            <a:pPr algn="ctr">
              <a:spcBef>
                <a:spcPts val="200"/>
              </a:spcBef>
            </a:pPr>
            <a:r>
              <a:rPr sz="620" b="0">
                <a:solidFill>
                  <a:srgbClr val="1F2937"/>
                </a:solidFill>
                <a:latin typeface="Arial"/>
              </a:rPr>
              <a:t>Solar Micro-RTU probes deliver continuous groundwater depth, siltation %, and soil moisture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98664" y="4297680"/>
            <a:ext cx="1417320" cy="16916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38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36576" rIns="36576" tIns="36576" bIns="36576"/>
          <a:lstStyle/>
          <a:p>
            <a:pPr algn="ctr">
              <a:defRPr sz="1100" b="1">
                <a:solidFill>
                  <a:srgbClr val="238741"/>
                </a:solidFill>
                <a:latin typeface="Calibri"/>
              </a:defRPr>
            </a:pPr>
            <a:r>
              <a:rPr sz="720" b="1">
                <a:solidFill>
                  <a:srgbClr val="14532D"/>
                </a:solidFill>
                <a:latin typeface="Arial"/>
              </a:rPr>
              <a:t>Satellite Playback</a:t>
            </a:r>
          </a:p>
          <a:p>
            <a:pPr algn="ctr">
              <a:spcBef>
                <a:spcPts val="200"/>
              </a:spcBef>
            </a:pPr>
            <a:r>
              <a:rPr sz="620" b="0">
                <a:solidFill>
                  <a:srgbClr val="1F2937"/>
                </a:solidFill>
                <a:latin typeface="Arial"/>
              </a:rPr>
              <a:t>Multi-spectral 5-season timeline tracking NDVI biomass gain and NDWI water spread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20" y="1097280"/>
            <a:ext cx="2468880" cy="5029200"/>
          </a:xfrm>
          <a:prstGeom prst="roundRect">
            <a:avLst/>
          </a:prstGeom>
          <a:solidFill>
            <a:srgbClr val="FDF5F5"/>
          </a:solidFill>
          <a:ln w="1905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555480" y="1234440"/>
            <a:ext cx="2194560" cy="411480"/>
          </a:xfrm>
          <a:prstGeom prst="roundRect">
            <a:avLst/>
          </a:prstGeom>
          <a:solidFill>
            <a:srgbClr val="97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sz="850" b="1">
                <a:solidFill>
                  <a:srgbClr val="FFFFFF"/>
                </a:solidFill>
                <a:latin typeface="Arial"/>
              </a:rPr>
              <a:t>Final Output: GIS Command Cockpit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55480" y="1783080"/>
            <a:ext cx="2194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tlCol="0" anchor="ctr" lIns="36576" rIns="36576" bIns="36576"/>
          <a:lstStyle/>
          <a:p>
            <a:pPr algn="ctr">
              <a:defRPr sz="1050" b="1">
                <a:solidFill>
                  <a:srgbClr val="973835"/>
                </a:solidFill>
                <a:latin typeface="Calibri"/>
              </a:defRPr>
            </a:pPr>
            <a:r>
              <a:rPr sz="720" b="1">
                <a:solidFill>
                  <a:srgbClr val="973835"/>
                </a:solidFill>
                <a:latin typeface="Arial"/>
              </a:rPr>
              <a:t>Suitability Score (0–100%)</a:t>
            </a:r>
          </a:p>
          <a:p>
            <a:pPr algn="ctr">
              <a:spcBef>
                <a:spcPts val="200"/>
              </a:spcBef>
            </a:pPr>
            <a:r>
              <a:rPr sz="620" b="0">
                <a:solidFill>
                  <a:srgbClr val="1F2937"/>
                </a:solidFill>
                <a:latin typeface="Arial"/>
              </a:rPr>
              <a:t>Algorithmic rating based on slope, drainage convergence &amp; soil permeability.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55480" y="2606040"/>
            <a:ext cx="2194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tlCol="0" anchor="ctr" lIns="36576" rIns="36576" bIns="36576"/>
          <a:lstStyle/>
          <a:p>
            <a:pPr algn="ctr">
              <a:defRPr sz="1050" b="1">
                <a:solidFill>
                  <a:srgbClr val="973835"/>
                </a:solidFill>
                <a:latin typeface="Calibri"/>
              </a:defRPr>
            </a:pPr>
            <a:r>
              <a:rPr sz="720" b="1">
                <a:solidFill>
                  <a:srgbClr val="973835"/>
                </a:solidFill>
                <a:latin typeface="Arial"/>
              </a:rPr>
              <a:t>Cryptographic Certificate</a:t>
            </a:r>
          </a:p>
          <a:p>
            <a:pPr algn="ctr">
              <a:spcBef>
                <a:spcPts val="200"/>
              </a:spcBef>
            </a:pPr>
            <a:r>
              <a:rPr sz="620" b="0">
                <a:solidFill>
                  <a:srgbClr val="1F2937"/>
                </a:solidFill>
                <a:latin typeface="Arial"/>
              </a:rPr>
              <a:t>SHA-256 hashed compliance report with GPS coordinates &amp; inspection timestamps.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55480" y="3429000"/>
            <a:ext cx="2194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tlCol="0" anchor="ctr" lIns="36576" rIns="36576" bIns="36576"/>
          <a:lstStyle/>
          <a:p>
            <a:pPr algn="ctr">
              <a:defRPr sz="1050" b="1">
                <a:solidFill>
                  <a:srgbClr val="973835"/>
                </a:solidFill>
                <a:latin typeface="Calibri"/>
              </a:defRPr>
            </a:pPr>
            <a:r>
              <a:rPr sz="720" b="1">
                <a:solidFill>
                  <a:srgbClr val="973835"/>
                </a:solidFill>
                <a:latin typeface="Arial"/>
              </a:rPr>
              <a:t>5-Season Temporal Slider</a:t>
            </a:r>
          </a:p>
          <a:p>
            <a:pPr algn="ctr">
              <a:spcBef>
                <a:spcPts val="200"/>
              </a:spcBef>
            </a:pPr>
            <a:r>
              <a:rPr sz="620" b="0">
                <a:solidFill>
                  <a:srgbClr val="1F2937"/>
                </a:solidFill>
                <a:latin typeface="Arial"/>
              </a:rPr>
              <a:t>5-season comparison (May drought baseline to Oct peak recharge) tracking NDVI.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55480" y="4251960"/>
            <a:ext cx="2194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tlCol="0" anchor="ctr" lIns="36576" rIns="36576" bIns="36576"/>
          <a:lstStyle/>
          <a:p>
            <a:pPr algn="ctr">
              <a:defRPr sz="1050" b="1">
                <a:solidFill>
                  <a:srgbClr val="973835"/>
                </a:solidFill>
                <a:latin typeface="Calibri"/>
              </a:defRPr>
            </a:pPr>
            <a:r>
              <a:rPr sz="720" b="1">
                <a:solidFill>
                  <a:srgbClr val="973835"/>
                </a:solidFill>
                <a:latin typeface="Arial"/>
              </a:rPr>
              <a:t>Automated Siltation Alerts</a:t>
            </a:r>
          </a:p>
          <a:p>
            <a:pPr algn="ctr">
              <a:spcBef>
                <a:spcPts val="200"/>
              </a:spcBef>
            </a:pPr>
            <a:r>
              <a:rPr sz="620" b="0">
                <a:solidFill>
                  <a:srgbClr val="1F2937"/>
                </a:solidFill>
                <a:latin typeface="Arial"/>
              </a:rPr>
              <a:t>Ultrasonic sensor threshold (&gt;25% silt) triggers proactive desilting work orders.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55480" y="5074920"/>
            <a:ext cx="2194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tlCol="0" anchor="ctr" lIns="36576" rIns="36576" bIns="36576"/>
          <a:lstStyle/>
          <a:p>
            <a:pPr algn="ctr">
              <a:defRPr sz="1050" b="1">
                <a:solidFill>
                  <a:srgbClr val="973835"/>
                </a:solidFill>
                <a:latin typeface="Calibri"/>
              </a:defRPr>
            </a:pPr>
            <a:r>
              <a:rPr sz="720" b="1">
                <a:solidFill>
                  <a:srgbClr val="973835"/>
                </a:solidFill>
                <a:latin typeface="Arial"/>
              </a:rPr>
              <a:t>Public Village Dossier</a:t>
            </a:r>
          </a:p>
          <a:p>
            <a:pPr algn="ctr">
              <a:spcBef>
                <a:spcPts val="200"/>
              </a:spcBef>
            </a:pPr>
            <a:r>
              <a:rPr sz="620" b="0">
                <a:solidFill>
                  <a:srgbClr val="1F2937"/>
                </a:solidFill>
                <a:latin typeface="Arial"/>
              </a:rPr>
              <a:t>Gram Panchayat transparency dossier with contractor details &amp; water table rise.</a:t>
            </a:r>
          </a:p>
        </p:txBody>
      </p:sp>
      <p:pic>
        <p:nvPicPr>
          <p:cNvPr id="37" name="object 11">
            <a:extLst>
              <a:ext uri="{FF2B5EF4-FFF2-40B4-BE49-F238E27FC236}">
                <a16:creationId xmlns:a16="http://schemas.microsoft.com/office/drawing/2014/main" id="{D7058D65-B325-9582-0B5D-61E0BAE3DAB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781" y="73152"/>
            <a:ext cx="876300" cy="8645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ih_logo_perfec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73152"/>
            <a:ext cx="2240280" cy="1051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973835"/>
                </a:solidFill>
                <a:latin typeface="Calibri"/>
              </a:defRPr>
            </a:pPr>
            <a:r>
              <a:t>FEASIBILITY AND VIABILITY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64224"/>
            <a:ext cx="12191999" cy="493776"/>
          </a:xfrm>
          <a:prstGeom prst="rect">
            <a:avLst/>
          </a:prstGeom>
          <a:solidFill>
            <a:srgbClr val="97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868680"/>
            <a:ext cx="466344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100">
                <a:solidFill>
                  <a:srgbClr val="212529"/>
                </a:solidFill>
                <a:latin typeface="Calibri"/>
              </a:defRPr>
            </a:pPr>
            <a:r>
              <a:rPr sz="919" b="1">
                <a:solidFill>
                  <a:srgbClr val="14532D"/>
                </a:solidFill>
                <a:latin typeface="Arial"/>
              </a:rPr>
              <a:t>A production-ready, lightweight geospatial intelligence platform designed for immediate deployment in rural watersheds.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868680"/>
            <a:ext cx="347472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100">
                <a:solidFill>
                  <a:srgbClr val="212529"/>
                </a:solidFill>
                <a:latin typeface="Calibri"/>
              </a:defRPr>
            </a:pPr>
            <a:r>
              <a:rPr sz="880" b="0">
                <a:solidFill>
                  <a:srgbClr val="4B5563"/>
                </a:solidFill>
                <a:latin typeface="Arial"/>
              </a:rPr>
              <a:t>Technically feasible, low-bandwidth architecture operating at &lt; ₹2,500/structure/year with offline-ready field sync.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572768"/>
            <a:ext cx="3383280" cy="4645152"/>
          </a:xfrm>
          <a:prstGeom prst="roundRect">
            <a:avLst/>
          </a:prstGeom>
          <a:solidFill>
            <a:srgbClr val="F5FAFF"/>
          </a:solidFill>
          <a:ln w="19050">
            <a:solidFill>
              <a:srgbClr val="235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2920" y="1691640"/>
            <a:ext cx="3108960" cy="384048"/>
          </a:xfrm>
          <a:prstGeom prst="roundRect">
            <a:avLst/>
          </a:prstGeom>
          <a:solidFill>
            <a:srgbClr val="23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Technical Feasibility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76272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850" b="1">
                <a:solidFill>
                  <a:srgbClr val="1E3A8A"/>
                </a:solidFill>
                <a:latin typeface="Arial"/>
              </a:rPr>
              <a:t>• Zero-Download Web SPA: </a:t>
            </a:r>
            <a:r>
              <a:rPr sz="780" b="0">
                <a:solidFill>
                  <a:srgbClr val="1F2937"/>
                </a:solidFill>
                <a:latin typeface="Arial"/>
              </a:rPr>
              <a:t>Runs smoothly on budget Android smartphones and desktop browsers without native app installations.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E3A8A"/>
                </a:solidFill>
                <a:latin typeface="Arial"/>
              </a:rPr>
              <a:t>• Low-Bandwidth Edge Capability: </a:t>
            </a:r>
            <a:r>
              <a:rPr sz="780" b="0">
                <a:solidFill>
                  <a:srgbClr val="1F2937"/>
                </a:solidFill>
                <a:latin typeface="Arial"/>
              </a:rPr>
              <a:t>Sub-50KB JSON payloads and vector tile caching ensure instant map rendering even on 2G/3G networks.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E3A8A"/>
                </a:solidFill>
                <a:latin typeface="Arial"/>
              </a:rPr>
              <a:t>• Offline-Resilient Field Logging: </a:t>
            </a:r>
            <a:r>
              <a:rPr sz="780" b="0">
                <a:solidFill>
                  <a:srgbClr val="1F2937"/>
                </a:solidFill>
                <a:latin typeface="Arial"/>
              </a:rPr>
              <a:t>Field evidence photos and GPS coordinates store in IndexedDB local cache, syncing automatically when online.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E3A8A"/>
                </a:solidFill>
                <a:latin typeface="Arial"/>
              </a:rPr>
              <a:t>• Open Standards &amp; Modularity: </a:t>
            </a:r>
            <a:r>
              <a:rPr sz="780" b="0">
                <a:solidFill>
                  <a:srgbClr val="1F2937"/>
                </a:solidFill>
                <a:latin typeface="Arial"/>
              </a:rPr>
              <a:t>GeoJSON and WMS/WFS compatible with ISRO Bhuvan, CGWB, and National Watershed repositories.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1572768"/>
            <a:ext cx="4389120" cy="46451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069080" y="1691640"/>
            <a:ext cx="4114800" cy="384048"/>
          </a:xfrm>
          <a:prstGeom prst="roundRect">
            <a:avLst/>
          </a:prstGeom>
          <a:solidFill>
            <a:srgbClr val="97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Potential Risks &amp; Mitigation Strategies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80" y="2212848"/>
            <a:ext cx="1965960" cy="8686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tlCol="0" anchor="ctr" lIns="36576" rIns="36576" bIns="36576"/>
          <a:lstStyle/>
          <a:p>
            <a:pPr algn="ctr">
              <a:defRPr sz="1000" b="1">
                <a:solidFill>
                  <a:srgbClr val="973835"/>
                </a:solidFill>
                <a:latin typeface="Calibri"/>
              </a:defRPr>
            </a:pPr>
            <a:r>
              <a:rPr sz="750" b="1">
                <a:solidFill>
                  <a:srgbClr val="973835"/>
                </a:solidFill>
                <a:latin typeface="Arial"/>
              </a:rPr>
              <a:t>Risk: Valley cellular dead-zones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212848"/>
            <a:ext cx="2011680" cy="8686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38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tlCol="0" anchor="ctr" lIns="36576" rIns="36576" bIns="36576"/>
          <a:lstStyle/>
          <a:p>
            <a:pPr algn="l">
              <a:defRPr sz="950">
                <a:solidFill>
                  <a:srgbClr val="212529"/>
                </a:solidFill>
                <a:latin typeface="Calibri"/>
              </a:defRPr>
            </a:pPr>
            <a:r>
              <a:rPr sz="680" b="0">
                <a:solidFill>
                  <a:srgbClr val="14532D"/>
                </a:solidFill>
                <a:latin typeface="Arial"/>
              </a:rPr>
              <a:t>Fix: Dual-hop LoRaWAN mesh relay nodes transmit telemetry to solar gateway.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9080" y="3172968"/>
            <a:ext cx="1965960" cy="8686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tlCol="0" anchor="ctr" lIns="36576" rIns="36576" bIns="36576"/>
          <a:lstStyle/>
          <a:p>
            <a:pPr algn="ctr">
              <a:defRPr sz="1000" b="1">
                <a:solidFill>
                  <a:srgbClr val="973835"/>
                </a:solidFill>
                <a:latin typeface="Calibri"/>
              </a:defRPr>
            </a:pPr>
            <a:r>
              <a:rPr sz="750" b="1">
                <a:solidFill>
                  <a:srgbClr val="973835"/>
                </a:solidFill>
                <a:latin typeface="Arial"/>
              </a:rPr>
              <a:t>Risk: Camera lens dust / smudge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72968"/>
            <a:ext cx="2011680" cy="8686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38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tlCol="0" anchor="ctr" lIns="36576" rIns="36576" bIns="36576"/>
          <a:lstStyle/>
          <a:p>
            <a:pPr algn="l">
              <a:defRPr sz="950">
                <a:solidFill>
                  <a:srgbClr val="212529"/>
                </a:solidFill>
                <a:latin typeface="Calibri"/>
              </a:defRPr>
            </a:pPr>
            <a:r>
              <a:rPr sz="680" b="0">
                <a:solidFill>
                  <a:srgbClr val="14532D"/>
                </a:solidFill>
                <a:latin typeface="Arial"/>
              </a:rPr>
              <a:t>Fix: Multi-point Bayer residual variance filtering &amp; EXIF digest cross-validation.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69080" y="4133087"/>
            <a:ext cx="1965960" cy="8686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tlCol="0" anchor="ctr" lIns="36576" rIns="36576" bIns="36576"/>
          <a:lstStyle/>
          <a:p>
            <a:pPr algn="ctr">
              <a:defRPr sz="1000" b="1">
                <a:solidFill>
                  <a:srgbClr val="973835"/>
                </a:solidFill>
                <a:latin typeface="Calibri"/>
              </a:defRPr>
            </a:pPr>
            <a:r>
              <a:rPr sz="750" b="1">
                <a:solidFill>
                  <a:srgbClr val="973835"/>
                </a:solidFill>
                <a:latin typeface="Arial"/>
              </a:rPr>
              <a:t>Risk: Dam siltation capacity loss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133087"/>
            <a:ext cx="2011680" cy="8686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38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tlCol="0" anchor="ctr" lIns="36576" rIns="36576" bIns="36576"/>
          <a:lstStyle/>
          <a:p>
            <a:pPr algn="l">
              <a:defRPr sz="950">
                <a:solidFill>
                  <a:srgbClr val="212529"/>
                </a:solidFill>
                <a:latin typeface="Calibri"/>
              </a:defRPr>
            </a:pPr>
            <a:r>
              <a:rPr sz="680" b="0">
                <a:solidFill>
                  <a:srgbClr val="14532D"/>
                </a:solidFill>
                <a:latin typeface="Arial"/>
              </a:rPr>
              <a:t>Fix: Ultrasonic silt profilers trigger automated desiltation work orders at &gt;25% silt.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69080" y="5093208"/>
            <a:ext cx="1965960" cy="8686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tlCol="0" anchor="ctr" lIns="36576" rIns="36576" bIns="36576"/>
          <a:lstStyle/>
          <a:p>
            <a:pPr algn="ctr">
              <a:defRPr sz="1000" b="1">
                <a:solidFill>
                  <a:srgbClr val="973835"/>
                </a:solidFill>
                <a:latin typeface="Calibri"/>
              </a:defRPr>
            </a:pPr>
            <a:r>
              <a:rPr sz="750" b="1">
                <a:solidFill>
                  <a:srgbClr val="973835"/>
                </a:solidFill>
                <a:latin typeface="Arial"/>
              </a:rPr>
              <a:t>Risk: Field contractor adoption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5093208"/>
            <a:ext cx="2011680" cy="8686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38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tlCol="0" anchor="ctr" lIns="36576" rIns="36576" bIns="36576"/>
          <a:lstStyle/>
          <a:p>
            <a:pPr algn="l">
              <a:defRPr sz="950">
                <a:solidFill>
                  <a:srgbClr val="212529"/>
                </a:solidFill>
                <a:latin typeface="Calibri"/>
              </a:defRPr>
            </a:pPr>
            <a:r>
              <a:rPr sz="680" b="0">
                <a:solidFill>
                  <a:srgbClr val="14532D"/>
                </a:solidFill>
                <a:latin typeface="Arial"/>
              </a:rPr>
              <a:t>Fix: Intuitive mobile PWA with instant digital milestone clearance accelerates payments.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1572768"/>
            <a:ext cx="3291840" cy="4645152"/>
          </a:xfrm>
          <a:prstGeom prst="roundRect">
            <a:avLst/>
          </a:prstGeom>
          <a:solidFill>
            <a:srgbClr val="F8FDFA"/>
          </a:solidFill>
          <a:ln w="19050">
            <a:solidFill>
              <a:srgbClr val="238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641080" y="1691640"/>
            <a:ext cx="3017520" cy="384048"/>
          </a:xfrm>
          <a:prstGeom prst="roundRect">
            <a:avLst/>
          </a:prstGeom>
          <a:solidFill>
            <a:srgbClr val="238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Practical Implementation &amp; Viability</a:t>
            </a:r>
          </a:p>
        </p:txBody>
      </p:sp>
      <p:sp>
        <p:nvSpPr>
          <p:cNvPr id="25" name="Oval 24"/>
          <p:cNvSpPr/>
          <p:nvPr/>
        </p:nvSpPr>
        <p:spPr>
          <a:xfrm>
            <a:off x="8641080" y="2240280"/>
            <a:ext cx="320040" cy="320040"/>
          </a:xfrm>
          <a:prstGeom prst="ellipse">
            <a:avLst/>
          </a:prstGeom>
          <a:solidFill>
            <a:srgbClr val="238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2203704"/>
            <a:ext cx="2651760" cy="73152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 algn="l">
              <a:defRPr sz="1050" b="1">
                <a:solidFill>
                  <a:srgbClr val="238741"/>
                </a:solidFill>
                <a:latin typeface="Calibri"/>
              </a:defRPr>
            </a:pPr>
            <a:r>
              <a:rPr sz="780" b="1">
                <a:solidFill>
                  <a:srgbClr val="973835"/>
                </a:solidFill>
                <a:latin typeface="Arial"/>
              </a:rPr>
              <a:t>Drastic Cost Reduction:</a:t>
            </a:r>
          </a:p>
          <a:p>
            <a:pPr algn="l">
              <a:spcBef>
                <a:spcPts val="200"/>
              </a:spcBef>
            </a:pPr>
            <a:r>
              <a:rPr sz="680" b="0">
                <a:solidFill>
                  <a:srgbClr val="1F2937"/>
                </a:solidFill>
                <a:latin typeface="Arial"/>
              </a:rPr>
              <a:t>Drops monitoring cost from ₹20,000 (manual travel &amp; paper audits) to ₹2,500/structure/year (~82% savings).</a:t>
            </a:r>
          </a:p>
        </p:txBody>
      </p:sp>
      <p:sp>
        <p:nvSpPr>
          <p:cNvPr id="27" name="Oval 26"/>
          <p:cNvSpPr/>
          <p:nvPr/>
        </p:nvSpPr>
        <p:spPr>
          <a:xfrm>
            <a:off x="8641080" y="3017520"/>
            <a:ext cx="320040" cy="320040"/>
          </a:xfrm>
          <a:prstGeom prst="ellipse">
            <a:avLst/>
          </a:prstGeom>
          <a:solidFill>
            <a:srgbClr val="238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980944"/>
            <a:ext cx="2651760" cy="73152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 algn="l">
              <a:defRPr sz="1050" b="1">
                <a:solidFill>
                  <a:srgbClr val="238741"/>
                </a:solidFill>
                <a:latin typeface="Calibri"/>
              </a:defRPr>
            </a:pPr>
            <a:r>
              <a:rPr sz="780" b="1">
                <a:solidFill>
                  <a:srgbClr val="973835"/>
                </a:solidFill>
                <a:latin typeface="Arial"/>
              </a:rPr>
              <a:t>Immediate Deployability:</a:t>
            </a:r>
          </a:p>
          <a:p>
            <a:pPr algn="l">
              <a:spcBef>
                <a:spcPts val="200"/>
              </a:spcBef>
            </a:pPr>
            <a:r>
              <a:rPr sz="680" b="0">
                <a:solidFill>
                  <a:srgbClr val="1F2937"/>
                </a:solidFill>
                <a:latin typeface="Arial"/>
              </a:rPr>
              <a:t>Zero-server setup with static web client and serverless microservices deployable on State Data Centers (SDC).</a:t>
            </a:r>
          </a:p>
        </p:txBody>
      </p:sp>
      <p:sp>
        <p:nvSpPr>
          <p:cNvPr id="29" name="Oval 28"/>
          <p:cNvSpPr/>
          <p:nvPr/>
        </p:nvSpPr>
        <p:spPr>
          <a:xfrm>
            <a:off x="8641080" y="3794760"/>
            <a:ext cx="320040" cy="320040"/>
          </a:xfrm>
          <a:prstGeom prst="ellipse">
            <a:avLst/>
          </a:prstGeom>
          <a:solidFill>
            <a:srgbClr val="238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3758184"/>
            <a:ext cx="2651760" cy="73152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 algn="l">
              <a:defRPr sz="1050" b="1">
                <a:solidFill>
                  <a:srgbClr val="238741"/>
                </a:solidFill>
                <a:latin typeface="Calibri"/>
              </a:defRPr>
            </a:pPr>
            <a:r>
              <a:rPr sz="780" b="1">
                <a:solidFill>
                  <a:srgbClr val="973835"/>
                </a:solidFill>
                <a:latin typeface="Arial"/>
              </a:rPr>
              <a:t>Frictionless Adoption:</a:t>
            </a:r>
          </a:p>
          <a:p>
            <a:pPr algn="l">
              <a:spcBef>
                <a:spcPts val="200"/>
              </a:spcBef>
            </a:pPr>
            <a:r>
              <a:rPr sz="680" b="0">
                <a:solidFill>
                  <a:srgbClr val="1F2937"/>
                </a:solidFill>
                <a:latin typeface="Arial"/>
              </a:rPr>
              <a:t>Mobile PWA requires zero officer training; plain-language site dossiers with interactive GIS visuals.</a:t>
            </a:r>
          </a:p>
        </p:txBody>
      </p:sp>
      <p:sp>
        <p:nvSpPr>
          <p:cNvPr id="31" name="Oval 30"/>
          <p:cNvSpPr/>
          <p:nvPr/>
        </p:nvSpPr>
        <p:spPr>
          <a:xfrm>
            <a:off x="8641080" y="4572000"/>
            <a:ext cx="320040" cy="320040"/>
          </a:xfrm>
          <a:prstGeom prst="ellipse">
            <a:avLst/>
          </a:prstGeom>
          <a:solidFill>
            <a:srgbClr val="238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4535424"/>
            <a:ext cx="2651760" cy="73152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 algn="l">
              <a:defRPr sz="1050" b="1">
                <a:solidFill>
                  <a:srgbClr val="238741"/>
                </a:solidFill>
                <a:latin typeface="Calibri"/>
              </a:defRPr>
            </a:pPr>
            <a:r>
              <a:rPr sz="780" b="1">
                <a:solidFill>
                  <a:srgbClr val="973835"/>
                </a:solidFill>
                <a:latin typeface="Arial"/>
              </a:rPr>
              <a:t>Statutory Admissibility:</a:t>
            </a:r>
          </a:p>
          <a:p>
            <a:pPr algn="l">
              <a:spcBef>
                <a:spcPts val="200"/>
              </a:spcBef>
            </a:pPr>
            <a:r>
              <a:rPr sz="680" b="0">
                <a:solidFill>
                  <a:srgbClr val="1F2937"/>
                </a:solidFill>
                <a:latin typeface="Arial"/>
              </a:rPr>
              <a:t>Cryptographic SHA-256 digital certificates admissible under PMKSY, MGNREGA, and state audit rules.</a:t>
            </a:r>
          </a:p>
        </p:txBody>
      </p:sp>
      <p:sp>
        <p:nvSpPr>
          <p:cNvPr id="33" name="Oval 32"/>
          <p:cNvSpPr/>
          <p:nvPr/>
        </p:nvSpPr>
        <p:spPr>
          <a:xfrm>
            <a:off x="8641080" y="5349240"/>
            <a:ext cx="320040" cy="320040"/>
          </a:xfrm>
          <a:prstGeom prst="ellipse">
            <a:avLst/>
          </a:prstGeom>
          <a:solidFill>
            <a:srgbClr val="238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5312664"/>
            <a:ext cx="2651760" cy="73152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 algn="l">
              <a:defRPr sz="1050" b="1">
                <a:solidFill>
                  <a:srgbClr val="238741"/>
                </a:solidFill>
                <a:latin typeface="Calibri"/>
              </a:defRPr>
            </a:pPr>
            <a:r>
              <a:rPr sz="780" b="1">
                <a:solidFill>
                  <a:srgbClr val="973835"/>
                </a:solidFill>
                <a:latin typeface="Arial"/>
              </a:rPr>
              <a:t>Real-Time Telemetry:</a:t>
            </a:r>
          </a:p>
          <a:p>
            <a:pPr algn="l">
              <a:spcBef>
                <a:spcPts val="200"/>
              </a:spcBef>
            </a:pPr>
            <a:r>
              <a:rPr sz="680" b="0">
                <a:solidFill>
                  <a:srgbClr val="1F2937"/>
                </a:solidFill>
                <a:latin typeface="Arial"/>
              </a:rPr>
              <a:t>Zilla Parishad &amp; Ministerial dashboard offers live tracking of groundwater rise, silt alerts, and drought vulnerability.</a:t>
            </a:r>
          </a:p>
        </p:txBody>
      </p:sp>
      <p:pic>
        <p:nvPicPr>
          <p:cNvPr id="36" name="object 11">
            <a:extLst>
              <a:ext uri="{FF2B5EF4-FFF2-40B4-BE49-F238E27FC236}">
                <a16:creationId xmlns:a16="http://schemas.microsoft.com/office/drawing/2014/main" id="{F8427F15-1C04-C4D6-9E64-446B9FD5598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450" y="140011"/>
            <a:ext cx="876300" cy="8645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ih_logo_perfec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73152"/>
            <a:ext cx="2240280" cy="1051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973835"/>
                </a:solidFill>
                <a:latin typeface="Calibri"/>
              </a:defRPr>
            </a:pPr>
            <a:r>
              <a:t>IMPACT AND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64224"/>
            <a:ext cx="12191999" cy="493776"/>
          </a:xfrm>
          <a:prstGeom prst="rect">
            <a:avLst/>
          </a:prstGeom>
          <a:solidFill>
            <a:srgbClr val="97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73835"/>
                </a:solidFill>
                <a:latin typeface="Calibri"/>
              </a:defRPr>
            </a:pPr>
            <a:r>
              <a:t>POTENTIAL IMPACT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89888"/>
            <a:ext cx="2926080" cy="877824"/>
          </a:xfrm>
          <a:prstGeom prst="roundRect">
            <a:avLst/>
          </a:prstGeom>
          <a:solidFill>
            <a:srgbClr val="FDF5F5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tlCol="0" anchor="ctr" lIns="36576" rIns="36576" bIns="36576"/>
          <a:lstStyle/>
          <a:p>
            <a:pPr algn="ctr">
              <a:defRPr sz="1050" b="1">
                <a:solidFill>
                  <a:srgbClr val="973835"/>
                </a:solidFill>
                <a:latin typeface="Calibri"/>
              </a:defRPr>
            </a:pPr>
            <a:r>
              <a:rPr sz="780" b="1">
                <a:solidFill>
                  <a:srgbClr val="973835"/>
                </a:solidFill>
                <a:latin typeface="Arial"/>
              </a:rPr>
              <a:t>1. GEOSPATIAL PLANNING</a:t>
            </a:r>
          </a:p>
          <a:p>
            <a:pPr algn="ctr">
              <a:spcBef>
                <a:spcPts val="200"/>
              </a:spcBef>
            </a:pPr>
            <a:r>
              <a:rPr sz="680" b="0">
                <a:solidFill>
                  <a:srgbClr val="1F2937"/>
                </a:solidFill>
                <a:latin typeface="Arial"/>
              </a:rPr>
              <a:t>Vector GIS delineates micro-catchments &amp; calculates Strahler stream drainage hierarchies.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350008"/>
            <a:ext cx="2926080" cy="877824"/>
          </a:xfrm>
          <a:prstGeom prst="roundRect">
            <a:avLst/>
          </a:prstGeom>
          <a:solidFill>
            <a:srgbClr val="FDF5F5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tlCol="0" anchor="ctr" lIns="36576" rIns="36576" bIns="36576"/>
          <a:lstStyle/>
          <a:p>
            <a:pPr algn="ctr">
              <a:defRPr sz="1050" b="1">
                <a:solidFill>
                  <a:srgbClr val="973835"/>
                </a:solidFill>
                <a:latin typeface="Calibri"/>
              </a:defRPr>
            </a:pPr>
            <a:r>
              <a:rPr sz="780" b="1">
                <a:solidFill>
                  <a:srgbClr val="973835"/>
                </a:solidFill>
                <a:latin typeface="Arial"/>
              </a:rPr>
              <a:t>2. AI SITING OPTIMIZATION</a:t>
            </a:r>
          </a:p>
          <a:p>
            <a:pPr algn="ctr">
              <a:spcBef>
                <a:spcPts val="200"/>
              </a:spcBef>
            </a:pPr>
            <a:r>
              <a:rPr sz="680" b="0">
                <a:solidFill>
                  <a:srgbClr val="1F2937"/>
                </a:solidFill>
                <a:latin typeface="Arial"/>
              </a:rPr>
              <a:t>DEM slope &amp; runoff convergence algorithm scores optimal check-dam coordinates (0–100%).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310128"/>
            <a:ext cx="2926080" cy="877824"/>
          </a:xfrm>
          <a:prstGeom prst="roundRect">
            <a:avLst/>
          </a:prstGeom>
          <a:solidFill>
            <a:srgbClr val="FDF5F5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tlCol="0" anchor="ctr" lIns="36576" rIns="36576" bIns="36576"/>
          <a:lstStyle/>
          <a:p>
            <a:pPr algn="ctr">
              <a:defRPr sz="1050" b="1">
                <a:solidFill>
                  <a:srgbClr val="973835"/>
                </a:solidFill>
                <a:latin typeface="Calibri"/>
              </a:defRPr>
            </a:pPr>
            <a:r>
              <a:rPr sz="780" b="1">
                <a:solidFill>
                  <a:srgbClr val="973835"/>
                </a:solidFill>
                <a:latin typeface="Arial"/>
              </a:rPr>
              <a:t>3. FORENSIC EVIDENCE</a:t>
            </a:r>
          </a:p>
          <a:p>
            <a:pPr algn="ctr">
              <a:spcBef>
                <a:spcPts val="200"/>
              </a:spcBef>
            </a:pPr>
            <a:r>
              <a:rPr sz="680" b="0">
                <a:solidFill>
                  <a:srgbClr val="1F2937"/>
                </a:solidFill>
                <a:latin typeface="Arial"/>
              </a:rPr>
              <a:t>Mobile photo capture with CMOS Bayer sensor pattern verification &amp; SHA-256 hashing.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270248"/>
            <a:ext cx="2926080" cy="877824"/>
          </a:xfrm>
          <a:prstGeom prst="roundRect">
            <a:avLst/>
          </a:prstGeom>
          <a:solidFill>
            <a:srgbClr val="FDF5F5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tlCol="0" anchor="ctr" lIns="36576" rIns="36576" bIns="36576"/>
          <a:lstStyle/>
          <a:p>
            <a:pPr algn="ctr">
              <a:defRPr sz="1050" b="1">
                <a:solidFill>
                  <a:srgbClr val="973835"/>
                </a:solidFill>
                <a:latin typeface="Calibri"/>
              </a:defRPr>
            </a:pPr>
            <a:r>
              <a:rPr sz="780" b="1">
                <a:solidFill>
                  <a:srgbClr val="973835"/>
                </a:solidFill>
                <a:latin typeface="Arial"/>
              </a:rPr>
              <a:t>4. MILESTONE CLEARANCE</a:t>
            </a:r>
          </a:p>
          <a:p>
            <a:pPr algn="ctr">
              <a:spcBef>
                <a:spcPts val="200"/>
              </a:spcBef>
            </a:pPr>
            <a:r>
              <a:rPr sz="680" b="0">
                <a:solidFill>
                  <a:srgbClr val="1F2937"/>
                </a:solidFill>
                <a:latin typeface="Arial"/>
              </a:rPr>
              <a:t>Verified cryptographic audit certificate triggers transparent public fund disbursement.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230368"/>
            <a:ext cx="2926080" cy="877824"/>
          </a:xfrm>
          <a:prstGeom prst="roundRect">
            <a:avLst/>
          </a:prstGeom>
          <a:solidFill>
            <a:srgbClr val="FDF5F5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tlCol="0" anchor="ctr" lIns="36576" rIns="36576" bIns="36576"/>
          <a:lstStyle/>
          <a:p>
            <a:pPr algn="ctr">
              <a:defRPr sz="1050" b="1">
                <a:solidFill>
                  <a:srgbClr val="973835"/>
                </a:solidFill>
                <a:latin typeface="Calibri"/>
              </a:defRPr>
            </a:pPr>
            <a:r>
              <a:rPr sz="780" b="1">
                <a:solidFill>
                  <a:srgbClr val="973835"/>
                </a:solidFill>
                <a:latin typeface="Arial"/>
              </a:rPr>
              <a:t>5. CONTINUOUS IMPACT</a:t>
            </a:r>
          </a:p>
          <a:p>
            <a:pPr algn="ctr">
              <a:spcBef>
                <a:spcPts val="200"/>
              </a:spcBef>
            </a:pPr>
            <a:r>
              <a:rPr sz="680" b="0">
                <a:solidFill>
                  <a:srgbClr val="1F2937"/>
                </a:solidFill>
                <a:latin typeface="Arial"/>
              </a:rPr>
              <a:t>LoRaWAN sensors &amp; Sentinel-2 satellite track groundwater recharge &amp; +144% farmer income.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05156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73835"/>
                </a:solidFill>
                <a:latin typeface="Calibri"/>
              </a:defRPr>
            </a:pPr>
            <a:r>
              <a:t>BENEFITS BY PILLAR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1389888"/>
            <a:ext cx="548640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E5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566160" y="1463040"/>
            <a:ext cx="1737360" cy="731520"/>
          </a:xfrm>
          <a:prstGeom prst="roundRect">
            <a:avLst/>
          </a:prstGeom>
          <a:solidFill>
            <a:srgbClr val="6E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tlCol="0" anchor="ctr" lIns="36576" rIns="36576" bIns="36576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sz="850" b="1">
                <a:solidFill>
                  <a:srgbClr val="FFFFFF"/>
                </a:solidFill>
                <a:latin typeface="Arial"/>
              </a:rPr>
              <a:t>Target Beneficiaries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1408176"/>
            <a:ext cx="3474720" cy="82296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 algn="l">
              <a:defRPr sz="950">
                <a:solidFill>
                  <a:srgbClr val="212529"/>
                </a:solidFill>
                <a:latin typeface="Calibri"/>
              </a:defRPr>
            </a:pPr>
            <a:r>
              <a:rPr sz="720" b="0">
                <a:solidFill>
                  <a:srgbClr val="1F2937"/>
                </a:solidFill>
                <a:latin typeface="Arial"/>
              </a:rPr>
              <a:t>• 250–500 small &amp; marginal farming families per micro-watershed cluster</a:t>
            </a:r>
            <a:br/>
            <a:r>
              <a:t>• State Water Resources Depts, Zilla Parishads, CSR Foundations &amp; Gram Panchayats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2350008"/>
            <a:ext cx="548640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566160" y="2423160"/>
            <a:ext cx="1737360" cy="731520"/>
          </a:xfrm>
          <a:prstGeom prst="roundRect">
            <a:avLst/>
          </a:prstGeom>
          <a:solidFill>
            <a:srgbClr val="D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tlCol="0" anchor="ctr" lIns="36576" rIns="36576" bIns="36576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sz="850" b="1">
                <a:solidFill>
                  <a:srgbClr val="FFFFFF"/>
                </a:solidFill>
                <a:latin typeface="Arial"/>
              </a:rPr>
              <a:t>Hydrological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368296"/>
            <a:ext cx="3474720" cy="82296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 algn="l">
              <a:defRPr sz="950">
                <a:solidFill>
                  <a:srgbClr val="212529"/>
                </a:solidFill>
                <a:latin typeface="Calibri"/>
              </a:defRPr>
            </a:pPr>
            <a:r>
              <a:rPr sz="720" b="0">
                <a:solidFill>
                  <a:srgbClr val="1F2937"/>
                </a:solidFill>
                <a:latin typeface="Arial"/>
              </a:rPr>
              <a:t>• +210% to +340% increase in water retention capacity; prevents flash-flood erosion in valleys</a:t>
            </a:r>
            <a:br/>
            <a:r>
              <a:t>• +2.4m to +4.2m water table elevation in downstream wells, sustaining borewells through summer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3310128"/>
            <a:ext cx="548640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566160" y="3383280"/>
            <a:ext cx="1737360" cy="731520"/>
          </a:xfrm>
          <a:prstGeom prst="roundRect">
            <a:avLst/>
          </a:prstGeom>
          <a:solidFill>
            <a:srgbClr val="C88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tlCol="0" anchor="ctr" lIns="36576" rIns="36576" bIns="36576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sz="850" b="1">
                <a:solidFill>
                  <a:srgbClr val="FFFFFF"/>
                </a:solidFill>
                <a:latin typeface="Arial"/>
              </a:rPr>
              <a:t>Socio-Economic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3328416"/>
            <a:ext cx="3474720" cy="82296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 algn="l">
              <a:defRPr sz="950">
                <a:solidFill>
                  <a:srgbClr val="212529"/>
                </a:solidFill>
                <a:latin typeface="Calibri"/>
              </a:defRPr>
            </a:pPr>
            <a:r>
              <a:rPr sz="720" b="0">
                <a:solidFill>
                  <a:srgbClr val="1F2937"/>
                </a:solidFill>
                <a:latin typeface="Arial"/>
              </a:rPr>
              <a:t>• Guarantees dual-crop (Kharif + Rabi) cycles, ending distress seasonal migration</a:t>
            </a:r>
            <a:br/>
            <a:r>
              <a:t>• +144% farmer income growth: average annual income rises from ₹58,000 to ₹1,42,000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4270248"/>
            <a:ext cx="548640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566160" y="4343400"/>
            <a:ext cx="1737360" cy="731520"/>
          </a:xfrm>
          <a:prstGeom prst="roundRect">
            <a:avLst/>
          </a:prstGeom>
          <a:solidFill>
            <a:srgbClr val="1E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tlCol="0" anchor="ctr" lIns="36576" rIns="36576" bIns="36576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sz="850" b="1">
                <a:solidFill>
                  <a:srgbClr val="FFFFFF"/>
                </a:solidFill>
                <a:latin typeface="Arial"/>
              </a:rPr>
              <a:t>Governance Impact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4288536"/>
            <a:ext cx="3474720" cy="82296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 algn="l">
              <a:defRPr sz="950">
                <a:solidFill>
                  <a:srgbClr val="212529"/>
                </a:solidFill>
                <a:latin typeface="Calibri"/>
              </a:defRPr>
            </a:pPr>
            <a:r>
              <a:rPr sz="720" b="0">
                <a:solidFill>
                  <a:srgbClr val="1F2937"/>
                </a:solidFill>
                <a:latin typeface="Arial"/>
              </a:rPr>
              <a:t>• 100% elimination of ghost infrastructure fraud by linking payments to cryptographic AI certificates</a:t>
            </a:r>
            <a:br/>
            <a:r>
              <a:t>• Slashes administrative verification expenditure by 82% (from ₹20,000 to ₹2,500/year)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5230368"/>
            <a:ext cx="548640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566160" y="5303520"/>
            <a:ext cx="1737360" cy="731520"/>
          </a:xfrm>
          <a:prstGeom prst="roundRect">
            <a:avLst/>
          </a:prstGeom>
          <a:solidFill>
            <a:srgbClr val="1E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tlCol="0" anchor="ctr" lIns="36576" rIns="36576" bIns="36576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sz="850" b="1">
                <a:solidFill>
                  <a:srgbClr val="FFFFFF"/>
                </a:solidFill>
                <a:latin typeface="Arial"/>
              </a:rPr>
              <a:t>Environmental Impact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5248656"/>
            <a:ext cx="3474720" cy="82296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 algn="l">
              <a:defRPr sz="950">
                <a:solidFill>
                  <a:srgbClr val="212529"/>
                </a:solidFill>
                <a:latin typeface="Calibri"/>
              </a:defRPr>
            </a:pPr>
            <a:r>
              <a:rPr sz="720" b="0">
                <a:solidFill>
                  <a:srgbClr val="1F2937"/>
                </a:solidFill>
                <a:latin typeface="Arial"/>
              </a:rPr>
              <a:t>• Arrests 180+ tons of topsoil erosion per dam/season; cools micro-climate by 1.5°C–2.0°C</a:t>
            </a:r>
            <a:br/>
            <a:r>
              <a:t>• +0.28 NDVI green cover expansion supports biodiversity and soil organic carbon replenishment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35440" y="1389888"/>
            <a:ext cx="2651760" cy="4754880"/>
          </a:xfrm>
          <a:prstGeom prst="roundRect">
            <a:avLst/>
          </a:prstGeom>
          <a:solidFill>
            <a:srgbClr val="FDF5F5"/>
          </a:solidFill>
          <a:ln w="1905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973835"/>
                </a:solidFill>
                <a:latin typeface="Calibri"/>
              </a:defRPr>
            </a:pPr>
            <a:r>
              <a:rPr sz="1000" b="1">
                <a:solidFill>
                  <a:srgbClr val="973835"/>
                </a:solidFill>
                <a:latin typeface="Arial"/>
              </a:rPr>
              <a:t>JALDRISHTI GOVERNANCE VISION</a:t>
            </a:r>
          </a:p>
          <a:p>
            <a:pPr algn="ctr">
              <a:spcBef>
                <a:spcPts val="600"/>
              </a:spcBef>
              <a:spcAft>
                <a:spcPts val="800"/>
              </a:spcAft>
            </a:pPr>
            <a:r>
              <a:rPr sz="800" i="1">
                <a:solidFill>
                  <a:srgbClr val="1E3A8A"/>
                </a:solidFill>
                <a:latin typeface="Arial"/>
              </a:rPr>
              <a:t>"A high-precision, tamper-proof, and explainable geospatial intelligence infrastructure ensuring every drop of rain is captured and every rupee of water conservation funds delivers verified ground truth."</a:t>
            </a:r>
          </a:p>
          <a:p>
            <a:pPr algn="ctr">
              <a:spcBef>
                <a:spcPts val="200"/>
              </a:spcBef>
            </a:pPr>
            <a:r>
              <a:rPr sz="850" b="1">
                <a:solidFill>
                  <a:srgbClr val="14532D"/>
                </a:solidFill>
                <a:latin typeface="Arial"/>
              </a:rPr>
              <a:t>✓ +340% Water Retention  </a:t>
            </a:r>
            <a:r>
              <a:rPr sz="720">
                <a:solidFill>
                  <a:srgbClr val="4B5563"/>
                </a:solidFill>
                <a:latin typeface="Arial"/>
              </a:rPr>
              <a:t>(Peak monsoon volume capture)</a:t>
            </a:r>
          </a:p>
          <a:p>
            <a:pPr algn="ctr">
              <a:spcBef>
                <a:spcPts val="200"/>
              </a:spcBef>
            </a:pPr>
            <a:r>
              <a:rPr sz="850" b="1">
                <a:solidFill>
                  <a:srgbClr val="14532D"/>
                </a:solidFill>
                <a:latin typeface="Arial"/>
              </a:rPr>
              <a:t>✓ +3.5m Aquifer Rise  </a:t>
            </a:r>
            <a:r>
              <a:rPr sz="720">
                <a:solidFill>
                  <a:srgbClr val="4B5563"/>
                </a:solidFill>
                <a:latin typeface="Arial"/>
              </a:rPr>
              <a:t>(Groundwater table elevation)</a:t>
            </a:r>
          </a:p>
          <a:p>
            <a:pPr algn="ctr">
              <a:spcBef>
                <a:spcPts val="200"/>
              </a:spcBef>
            </a:pPr>
            <a:r>
              <a:rPr sz="850" b="1">
                <a:solidFill>
                  <a:srgbClr val="14532D"/>
                </a:solidFill>
                <a:latin typeface="Arial"/>
              </a:rPr>
              <a:t>✓ +144% Farmer Income  </a:t>
            </a:r>
            <a:r>
              <a:rPr sz="720">
                <a:solidFill>
                  <a:srgbClr val="4B5563"/>
                </a:solidFill>
                <a:latin typeface="Arial"/>
              </a:rPr>
              <a:t>(From ₹58,000 to ₹1,42,000/yr)</a:t>
            </a:r>
          </a:p>
          <a:p>
            <a:pPr algn="ctr">
              <a:spcBef>
                <a:spcPts val="200"/>
              </a:spcBef>
            </a:pPr>
            <a:r>
              <a:rPr sz="850" b="1">
                <a:solidFill>
                  <a:srgbClr val="14532D"/>
                </a:solidFill>
                <a:latin typeface="Arial"/>
              </a:rPr>
              <a:t>✓ 82% Audit Cost Reduction  </a:t>
            </a:r>
            <a:r>
              <a:rPr sz="720">
                <a:solidFill>
                  <a:srgbClr val="4B5563"/>
                </a:solidFill>
                <a:latin typeface="Arial"/>
              </a:rPr>
              <a:t>(Automating manual audits)</a:t>
            </a:r>
          </a:p>
        </p:txBody>
      </p:sp>
      <p:pic>
        <p:nvPicPr>
          <p:cNvPr id="32" name="object 11">
            <a:extLst>
              <a:ext uri="{FF2B5EF4-FFF2-40B4-BE49-F238E27FC236}">
                <a16:creationId xmlns:a16="http://schemas.microsoft.com/office/drawing/2014/main" id="{89DF67E6-8734-5E3F-B7BF-583071D0687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104741"/>
            <a:ext cx="876300" cy="8645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ih_logo_perfec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73152"/>
            <a:ext cx="2240280" cy="1051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973835"/>
                </a:solidFill>
                <a:latin typeface="Calibri"/>
              </a:defRPr>
            </a:pPr>
            <a:r>
              <a:t>RESEARCH  AND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64224"/>
            <a:ext cx="12191999" cy="493776"/>
          </a:xfrm>
          <a:prstGeom prst="rect">
            <a:avLst/>
          </a:prstGeom>
          <a:solidFill>
            <a:srgbClr val="97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973835"/>
                </a:solidFill>
                <a:latin typeface="Calibri"/>
              </a:defRPr>
            </a:pPr>
            <a:r>
              <a:rPr sz="1100" b="1">
                <a:solidFill>
                  <a:srgbClr val="973835"/>
                </a:solidFill>
                <a:latin typeface="Arial"/>
              </a:rPr>
              <a:t>1. Statutory Standards &amp; Water Policy Frameworks</a:t>
            </a:r>
          </a:p>
          <a:p>
            <a:pPr>
              <a:spcAft>
                <a:spcPts val="150"/>
              </a:spcAft>
            </a:pPr>
            <a:r>
              <a:rPr sz="950" b="1">
                <a:solidFill>
                  <a:srgbClr val="000000"/>
                </a:solidFill>
                <a:latin typeface="Arial"/>
              </a:rPr>
              <a:t>•  Central Ground Water Board (CGWB), Ministry of Jal Shakti: </a:t>
            </a:r>
            <a:r>
              <a:rPr sz="919" b="0">
                <a:solidFill>
                  <a:srgbClr val="1F2937"/>
                </a:solidFill>
                <a:latin typeface="Arial"/>
              </a:rPr>
              <a:t>Master Plan for Artificial Recharge to Ground Water in India (2020 Guidelines).</a:t>
            </a:r>
          </a:p>
          <a:p>
            <a:pPr>
              <a:spcAft>
                <a:spcPts val="150"/>
              </a:spcAft>
            </a:pPr>
            <a:r>
              <a:rPr sz="950" b="1">
                <a:solidFill>
                  <a:srgbClr val="000000"/>
                </a:solidFill>
                <a:latin typeface="Arial"/>
              </a:rPr>
              <a:t>•  Pradhan Mantri Krishi Sinchayee Yojana (PMKSY - WDC): </a:t>
            </a:r>
            <a:r>
              <a:rPr sz="919" b="0">
                <a:solidFill>
                  <a:srgbClr val="1F2937"/>
                </a:solidFill>
                <a:latin typeface="Arial"/>
              </a:rPr>
              <a:t>Statutory guidelines for Geo-tagging and digital asset verification.</a:t>
            </a:r>
          </a:p>
          <a:p>
            <a:pPr>
              <a:spcAft>
                <a:spcPts val="150"/>
              </a:spcAft>
            </a:pPr>
            <a:r>
              <a:rPr sz="950" b="1">
                <a:solidFill>
                  <a:srgbClr val="000000"/>
                </a:solidFill>
                <a:latin typeface="Arial"/>
              </a:rPr>
              <a:t>•  Mission Amrit Sarovar &amp; Jal Jeevan Mission: </a:t>
            </a:r>
            <a:r>
              <a:rPr sz="919" b="0">
                <a:solidFill>
                  <a:srgbClr val="1F2937"/>
                </a:solidFill>
                <a:latin typeface="Arial"/>
              </a:rPr>
              <a:t>National geospatial frameworks for rejuvenation of 50,000+ water bodies and rural water security.</a:t>
            </a:r>
          </a:p>
          <a:p>
            <a:pPr>
              <a:spcAft>
                <a:spcPts val="150"/>
              </a:spcAft>
            </a:pPr>
            <a:r>
              <a:rPr sz="950" b="1">
                <a:solidFill>
                  <a:srgbClr val="000000"/>
                </a:solidFill>
                <a:latin typeface="Arial"/>
              </a:rPr>
              <a:t>•  Food and Agriculture Organization (FAO): </a:t>
            </a:r>
            <a:r>
              <a:rPr sz="919" b="0">
                <a:solidFill>
                  <a:srgbClr val="1F2937"/>
                </a:solidFill>
                <a:latin typeface="Arial"/>
              </a:rPr>
              <a:t>Watershed Management Field Manual – Soil &amp; Water Conservation Structures (FAO Guide 13/3).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1">
                <a:solidFill>
                  <a:srgbClr val="973835"/>
                </a:solidFill>
                <a:latin typeface="Arial"/>
              </a:rPr>
              <a:t>2. Hydrological Modeling, Geospatial Cartography &amp; Remote Sensing</a:t>
            </a:r>
          </a:p>
          <a:p>
            <a:pPr>
              <a:spcAft>
                <a:spcPts val="150"/>
              </a:spcAft>
            </a:pPr>
            <a:r>
              <a:rPr sz="950" b="1">
                <a:solidFill>
                  <a:srgbClr val="000000"/>
                </a:solidFill>
                <a:latin typeface="Arial"/>
              </a:rPr>
              <a:t>•  USDA-NRCS: </a:t>
            </a:r>
            <a:r>
              <a:rPr sz="919" b="0">
                <a:solidFill>
                  <a:srgbClr val="1F2937"/>
                </a:solidFill>
                <a:latin typeface="Arial"/>
              </a:rPr>
              <a:t>Soil Conservation Service Curve Number (SCS-CN) Hydrological Runoff Modeling Methodology.</a:t>
            </a:r>
          </a:p>
          <a:p>
            <a:pPr>
              <a:spcAft>
                <a:spcPts val="150"/>
              </a:spcAft>
            </a:pPr>
            <a:r>
              <a:rPr sz="950" b="1">
                <a:solidFill>
                  <a:srgbClr val="000000"/>
                </a:solidFill>
                <a:latin typeface="Arial"/>
              </a:rPr>
              <a:t>•  Strahler, A. N. (1957): </a:t>
            </a:r>
            <a:r>
              <a:rPr sz="919" b="0">
                <a:solidFill>
                  <a:srgbClr val="1F2937"/>
                </a:solidFill>
                <a:latin typeface="Arial"/>
              </a:rPr>
              <a:t>Quantitative Analysis of Watershed Geomorphology — Stream hierarchy classification for erosion control.</a:t>
            </a:r>
          </a:p>
          <a:p>
            <a:pPr>
              <a:spcAft>
                <a:spcPts val="150"/>
              </a:spcAft>
            </a:pPr>
            <a:r>
              <a:rPr sz="950" b="1">
                <a:solidFill>
                  <a:srgbClr val="000000"/>
                </a:solidFill>
                <a:latin typeface="Arial"/>
              </a:rPr>
              <a:t>•  European Space Agency (ESA Copernicus): </a:t>
            </a:r>
            <a:r>
              <a:rPr sz="919" b="0">
                <a:solidFill>
                  <a:srgbClr val="1F2937"/>
                </a:solidFill>
                <a:latin typeface="Arial"/>
              </a:rPr>
              <a:t>Sentinel-2 MSI Multi-Spectral Instrument (10m Level-2A Surface Reflectance: NDVI &amp; NDWI).</a:t>
            </a:r>
          </a:p>
          <a:p>
            <a:pPr>
              <a:spcAft>
                <a:spcPts val="150"/>
              </a:spcAft>
            </a:pPr>
            <a:r>
              <a:rPr sz="950" b="1">
                <a:solidFill>
                  <a:srgbClr val="000000"/>
                </a:solidFill>
                <a:latin typeface="Arial"/>
              </a:rPr>
              <a:t>•  ISRO &amp; NRSC: </a:t>
            </a:r>
            <a:r>
              <a:rPr sz="919" b="0">
                <a:solidFill>
                  <a:srgbClr val="1F2937"/>
                </a:solidFill>
                <a:latin typeface="Arial"/>
              </a:rPr>
              <a:t>National Watershed Atlas &amp; Bhuvan Geospatial Hydrology Protocols.</a:t>
            </a:r>
          </a:p>
          <a:p>
            <a:pPr>
              <a:spcAft>
                <a:spcPts val="150"/>
              </a:spcAft>
            </a:pPr>
            <a:r>
              <a:rPr sz="950" b="1">
                <a:solidFill>
                  <a:srgbClr val="000000"/>
                </a:solidFill>
                <a:latin typeface="Arial"/>
              </a:rPr>
              <a:t>•  OpenFreeMap Project: </a:t>
            </a:r>
            <a:r>
              <a:rPr sz="919" b="0">
                <a:solidFill>
                  <a:srgbClr val="1F2937"/>
                </a:solidFill>
                <a:latin typeface="Arial"/>
              </a:rPr>
              <a:t>Open-source Vector Tile Topographical Schemas and MapLibre GL Cartography Engine.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1">
                <a:solidFill>
                  <a:srgbClr val="973835"/>
                </a:solidFill>
                <a:latin typeface="Arial"/>
              </a:rPr>
              <a:t>3. Computer Vision Forensics, Sensor Pattern Noise &amp; Cryptography</a:t>
            </a:r>
          </a:p>
          <a:p>
            <a:pPr>
              <a:spcAft>
                <a:spcPts val="150"/>
              </a:spcAft>
            </a:pPr>
            <a:r>
              <a:rPr sz="950" b="1">
                <a:solidFill>
                  <a:srgbClr val="000000"/>
                </a:solidFill>
                <a:latin typeface="Arial"/>
              </a:rPr>
              <a:t>•  Lukas et al. (IEEE TIFS): </a:t>
            </a:r>
            <a:r>
              <a:rPr sz="919" b="0">
                <a:solidFill>
                  <a:srgbClr val="1F2937"/>
                </a:solidFill>
                <a:latin typeface="Arial"/>
              </a:rPr>
              <a:t>Digital Camera Sensor Identification Using CMOS Photo-Response Non-Uniformity (PRNU) &amp; Bayer Noise.</a:t>
            </a:r>
          </a:p>
          <a:p>
            <a:pPr>
              <a:spcAft>
                <a:spcPts val="150"/>
              </a:spcAft>
            </a:pPr>
            <a:r>
              <a:rPr sz="950" b="1">
                <a:solidFill>
                  <a:srgbClr val="000000"/>
                </a:solidFill>
                <a:latin typeface="Arial"/>
              </a:rPr>
              <a:t>•  Corvi et al. (IEEE CVPR): </a:t>
            </a:r>
            <a:r>
              <a:rPr sz="919" b="0">
                <a:solidFill>
                  <a:srgbClr val="1F2937"/>
                </a:solidFill>
                <a:latin typeface="Arial"/>
              </a:rPr>
              <a:t>On the Detection of Synthetic Diffusion Images Using High-Frequency Residual &amp; Optical Edge Analysis.</a:t>
            </a:r>
          </a:p>
          <a:p>
            <a:pPr>
              <a:spcAft>
                <a:spcPts val="150"/>
              </a:spcAft>
            </a:pPr>
            <a:r>
              <a:rPr sz="950" b="1">
                <a:solidFill>
                  <a:srgbClr val="000000"/>
                </a:solidFill>
                <a:latin typeface="Arial"/>
              </a:rPr>
              <a:t>•  NIST FIPS 180-4: </a:t>
            </a:r>
            <a:r>
              <a:rPr sz="919" b="0">
                <a:solidFill>
                  <a:srgbClr val="1F2937"/>
                </a:solidFill>
                <a:latin typeface="Arial"/>
              </a:rPr>
              <a:t>Secure Hash Standard (SHA-256) for Tamper-Proof Electronic Evidence Certification.</a:t>
            </a:r>
          </a:p>
          <a:p>
            <a:pPr>
              <a:spcAft>
                <a:spcPts val="150"/>
              </a:spcAft>
            </a:pPr>
            <a:r>
              <a:rPr sz="950" b="1">
                <a:solidFill>
                  <a:srgbClr val="000000"/>
                </a:solidFill>
                <a:latin typeface="Arial"/>
              </a:rPr>
              <a:t>•  LoRa Alliance: </a:t>
            </a:r>
            <a:r>
              <a:rPr sz="919" b="0">
                <a:solidFill>
                  <a:srgbClr val="1F2937"/>
                </a:solidFill>
                <a:latin typeface="Arial"/>
              </a:rPr>
              <a:t>LoRaWAN Link Layer Specification v1.0.4 for Long-Range Rural Micro-RTU Sensor Mesh Networks.</a:t>
            </a:r>
          </a:p>
        </p:txBody>
      </p:sp>
      <p:pic>
        <p:nvPicPr>
          <p:cNvPr id="10" name="object 11">
            <a:extLst>
              <a:ext uri="{FF2B5EF4-FFF2-40B4-BE49-F238E27FC236}">
                <a16:creationId xmlns:a16="http://schemas.microsoft.com/office/drawing/2014/main" id="{59EE2D49-98DE-4CB9-8E16-86EFD5141EE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640" y="91025"/>
            <a:ext cx="876300" cy="8645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1509</Words>
  <Application>Microsoft Office PowerPoint</Application>
  <PresentationFormat>Widescreen</PresentationFormat>
  <Paragraphs>165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keywords/>
  <dc:description>generated using python-pptx</dc:description>
  <cp:lastModifiedBy>Kushal Shah</cp:lastModifiedBy>
  <cp:revision>2</cp:revision>
  <dcterms:created xsi:type="dcterms:W3CDTF">2013-01-27T09:14:16Z</dcterms:created>
  <dcterms:modified xsi:type="dcterms:W3CDTF">2026-09-30T04:21:47Z</dcterms:modified>
  <cp:category/>
</cp:coreProperties>
</file>