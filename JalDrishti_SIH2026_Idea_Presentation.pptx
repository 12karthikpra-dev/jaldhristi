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  <a:defRPr sz="1600" b="1">
                <a:latin typeface="Arial"/>
              </a:defRPr>
            </a:pPr>
            <a:r>
              <a:t>• Problem Statement ID – SIH26031 / Open Innovation</a:t>
            </a:r>
            <a:endParaRPr lang="en-US" dirty="0"/>
          </a:p>
          <a:p>
            <a:pPr>
              <a:spcAft>
                <a:spcPts val="800"/>
              </a:spcAft>
              <a:defRPr sz="1600" b="1">
                <a:latin typeface="Arial"/>
              </a:defRPr>
            </a:pPr>
            <a:r>
              <a:t>• Problem Statement Title – JalDrishti: AI-Powered Geospatial Watershed Intelligence &amp; Verification Platform</a:t>
            </a:r>
          </a:p>
          <a:p>
            <a:pPr>
              <a:spcAft>
                <a:spcPts val="800"/>
              </a:spcAft>
              <a:defRPr sz="1600" b="1">
                <a:latin typeface="Arial"/>
              </a:defRPr>
            </a:pPr>
            <a:r>
              <a:t>• Theme – Smart Automation / Agriculture, FoodTech &amp; Rural Development</a:t>
            </a:r>
          </a:p>
          <a:p>
            <a:pPr>
              <a:spcAft>
                <a:spcPts val="800"/>
              </a:spcAft>
              <a:defRPr sz="1600" b="1">
                <a:latin typeface="Arial"/>
              </a:defRPr>
            </a:pPr>
            <a:r>
              <a:t>• PS Category – Software</a:t>
            </a:r>
          </a:p>
          <a:p>
            <a:pPr>
              <a:spcAft>
                <a:spcPts val="800"/>
              </a:spcAft>
              <a:defRPr sz="1600" b="1">
                <a:latin typeface="Arial"/>
              </a:defRPr>
            </a:pPr>
            <a:r>
              <a:t>• Team ID – T133</a:t>
            </a:r>
          </a:p>
          <a:p>
            <a:pPr>
              <a:spcAft>
                <a:spcPts val="800"/>
              </a:spcAft>
              <a:defRPr sz="1600" b="1">
                <a:latin typeface="Arial"/>
              </a:defRPr>
            </a:pPr>
            <a:r>
              <a:t>• Team Name (Registered on portal) – JalDrishti</a:t>
            </a:r>
          </a:p>
          <a:p>
            <a:pPr>
              <a:defRPr sz="1500" b="1">
                <a:latin typeface="Arial"/>
              </a:defRPr>
            </a:pPr>
            <a:r>
              <a:t>• Institute – Smart India Hackathon 2026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>
              <a:defRPr sz="2400" b="1">
                <a:latin typeface="Times New Roman"/>
              </a:defRPr>
            </a:pPr>
            <a:r>
              <a:t>JALDRISHTI: AI GEOSPATIAL WATERSHED INTELLIGENCE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Aft>
                <a:spcPts val="400"/>
              </a:spcAft>
              <a:buFont typeface="Wingdings" panose="05000000000000000000" pitchFamily="2" charset="2"/>
              <a:buChar char="v"/>
              <a:defRPr sz="1400" b="1">
                <a:latin typeface="Arial"/>
              </a:defRPr>
            </a:pPr>
            <a:r>
              <a:t>Proposed Solution (End-to-End Digital Watershed Intelligence &amp; Anti-Fraud Verification):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spcAft>
                <a:spcPts val="300"/>
              </a:spcAft>
              <a:defRPr sz="1200">
                <a:latin typeface="Arial"/>
              </a:defRPr>
            </a:pPr>
            <a:r>
              <a:t>• High-Precision Vector Hydrological GIS Engine: Integrates OpenFreeMap &amp; MapLibre GL for sub-meter catchment boundaries, Strahler drainage stream hierarchies, and dynamic basemaps at zero licensing cost.</a:t>
            </a:r>
          </a:p>
          <a:p>
            <a:pPr>
              <a:spcAft>
                <a:spcPts val="300"/>
              </a:spcAft>
              <a:defRPr sz="1200">
                <a:latin typeface="Arial"/>
              </a:defRPr>
            </a:pPr>
            <a:r>
              <a:t>• AI Check-Dam Siting Optimizer: Evaluates DEM contour slope gradient, upstream catchment area, and runoff convergence to calculate 0–100% suitability scores and storage capacity in real time.</a:t>
            </a:r>
          </a:p>
          <a:p>
            <a:pPr>
              <a:spcAft>
                <a:spcPts val="300"/>
              </a:spcAft>
              <a:defRPr sz="1200">
                <a:latin typeface="Arial"/>
              </a:defRPr>
            </a:pPr>
            <a:r>
              <a:t>• Multi-Layer Neural AI Forensics: Inspects hardware CMOS sensor Bayer optical noise patterns and EXIF signatures to flag AI-generated/tampered photos and eliminate ghost infrastructure fraud.</a:t>
            </a:r>
          </a:p>
          <a:p>
            <a:pPr>
              <a:spcAft>
                <a:spcPts val="300"/>
              </a:spcAft>
              <a:defRPr sz="1200">
                <a:latin typeface="Arial"/>
              </a:defRPr>
            </a:pPr>
            <a:r>
              <a:t>• Live IoT Sensor Mesh &amp; Satellite Playback: Streams continuous groundwater depth, soil moisture, and ultrasonic silt alerts via LoRaWAN/4G; tracks 5-season NDVI/NDWI vegetation gain via Sentinel-2.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1">
                <a:latin typeface="Arial"/>
              </a:defRPr>
            </a:pPr>
            <a:r>
              <a:t>Problem Today vs. How JalDrishti Solves It:</a:t>
            </a:r>
          </a:p>
          <a:p>
            <a:pPr>
              <a:spcAft>
                <a:spcPts val="200"/>
              </a:spcAft>
              <a:defRPr sz="1100">
                <a:latin typeface="Arial"/>
              </a:defRPr>
            </a:pPr>
            <a:r>
              <a:t>  - 1. Unscientific Siting (Paper Guesswork) → Algorithmic 0–100% DEM contour suitability optimization.</a:t>
            </a:r>
          </a:p>
          <a:p>
            <a:pPr>
              <a:spcAft>
                <a:spcPts val="200"/>
              </a:spcAft>
              <a:defRPr sz="1100">
                <a:latin typeface="Arial"/>
              </a:defRPr>
            </a:pPr>
            <a:r>
              <a:t>  - 2. Ghost Dams &amp; Fund Embezzlement → Cryptographic SHA-256 Bayer sensor noise &amp; EXIF audit reports.</a:t>
            </a:r>
          </a:p>
          <a:p>
            <a:pPr>
              <a:spcAft>
                <a:spcPts val="200"/>
              </a:spcAft>
              <a:defRPr sz="1100">
                <a:latin typeface="Arial"/>
              </a:defRPr>
            </a:pPr>
            <a:r>
              <a:t>  - 3. 30–60 Day Paper Inspection Delays → Real-time sub-second IoT telemetry + automated milestone verification.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JalDrishti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latin typeface="Times New Roman"/>
              </a:defRPr>
            </a:pPr>
            <a: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300"/>
              </a:spcAft>
              <a:buFont typeface="Arial" panose="020B0604020202020204" pitchFamily="34" charset="0"/>
              <a:buChar char="•"/>
              <a:defRPr sz="1400" b="1">
                <a:latin typeface="Arial"/>
              </a:defRPr>
            </a:pPr>
            <a:r>
              <a:t>1. Technology Stack Architecture:</a:t>
            </a:r>
          </a:p>
          <a:p>
            <a:pPr>
              <a:spcAft>
                <a:spcPts val="200"/>
              </a:spcAft>
              <a:defRPr sz="1150">
                <a:latin typeface="Arial"/>
              </a:defRPr>
            </a:pPr>
            <a:r>
              <a:t>  • Frontend &amp; Geospatial UI: Vanilla HTML5, Modern Tailwind/CSS3, ES6 Modular JS, Leaflet.js, MapLibre GL Vector Engine.</a:t>
            </a:r>
          </a:p>
          <a:p>
            <a:pPr>
              <a:spcAft>
                <a:spcPts val="200"/>
              </a:spcAft>
              <a:defRPr sz="1150">
                <a:latin typeface="Arial"/>
              </a:defRPr>
            </a:pPr>
            <a:r>
              <a:t>  • Map &amp; Satellite Providers: OpenFreeMap.org (Liberty, Bright, Positron vector tiles), ESRI World Imagery, OpenTopoMap DEM.</a:t>
            </a:r>
          </a:p>
          <a:p>
            <a:pPr>
              <a:spcAft>
                <a:spcPts val="200"/>
              </a:spcAft>
              <a:defRPr sz="1150">
                <a:latin typeface="Arial"/>
              </a:defRPr>
            </a:pPr>
            <a:r>
              <a:t>  • AI &amp; Forensic Engine: Automated DEM Slope-Catchment Hydro-Solver, CMOS Optical Sensor Noise Analysis, EXIF Cryptography.</a:t>
            </a:r>
          </a:p>
          <a:p>
            <a:pPr>
              <a:spcAft>
                <a:spcPts val="200"/>
              </a:spcAft>
              <a:defRPr sz="1150">
                <a:latin typeface="Arial"/>
              </a:defRPr>
            </a:pPr>
            <a:r>
              <a:t>  • IoT Telemetry &amp; Edge Sensing: Solar Micro-RTU Gateways, LoRaWAN / 4G LTE-M Uplink, Hydrostatic Depth &amp; Silt Profilers.</a:t>
            </a:r>
          </a:p>
          <a:p>
            <a:pPr>
              <a:spcBef>
                <a:spcPts val="400"/>
              </a:spcBef>
              <a:spcAft>
                <a:spcPts val="300"/>
              </a:spcAft>
              <a:defRPr sz="1400" b="1">
                <a:latin typeface="Arial"/>
              </a:defRPr>
            </a:pPr>
            <a:r>
              <a:t>2. Step-by-Step Implementation Methodology:</a:t>
            </a:r>
          </a:p>
          <a:p>
            <a:pPr>
              <a:spcAft>
                <a:spcPts val="200"/>
              </a:spcAft>
              <a:defRPr sz="1100">
                <a:latin typeface="Arial"/>
              </a:defRPr>
            </a:pPr>
            <a:r>
              <a:t>  • Step 1 [Geospatial Ingestion]: Vector micro-catchment boundary delineation &amp; Strahler stream order classification.</a:t>
            </a:r>
          </a:p>
          <a:p>
            <a:pPr>
              <a:spcAft>
                <a:spcPts val="200"/>
              </a:spcAft>
              <a:defRPr sz="1100">
                <a:latin typeface="Arial"/>
              </a:defRPr>
            </a:pPr>
            <a:r>
              <a:t>  • Step 2 [AI Siting Optimization]: Algorithmic hydraulic computation (DEM slope %, catchment ha, runoff volume yield).</a:t>
            </a:r>
          </a:p>
          <a:p>
            <a:pPr>
              <a:spcAft>
                <a:spcPts val="200"/>
              </a:spcAft>
              <a:defRPr sz="1100">
                <a:latin typeface="Arial"/>
              </a:defRPr>
            </a:pPr>
            <a:r>
              <a:t>  • Step 3 [Field Evidence Capture]: Mobile geo-tagged photo capture with client-side SHA-256 hashing and EXIF validation.</a:t>
            </a:r>
          </a:p>
          <a:p>
            <a:pPr>
              <a:spcAft>
                <a:spcPts val="200"/>
              </a:spcAft>
              <a:defRPr sz="1100">
                <a:latin typeface="Arial"/>
              </a:defRPr>
            </a:pPr>
            <a:r>
              <a:t>  • Step 4 [Neural AI Forensics]: Dual-layer CMOS sensor noise vs diffusion anomaly scan to verify genuine construction.</a:t>
            </a:r>
          </a:p>
          <a:p>
            <a:pPr>
              <a:spcAft>
                <a:spcPts val="200"/>
              </a:spcAft>
              <a:defRPr sz="1100">
                <a:latin typeface="Arial"/>
              </a:defRPr>
            </a:pPr>
            <a:r>
              <a:t>  • Step 5 [Milestone Fund Clearance]: Automated cryptographic audit certificate generation for state finance release.</a:t>
            </a:r>
          </a:p>
          <a:p>
            <a:pPr>
              <a:spcAft>
                <a:spcPts val="200"/>
              </a:spcAft>
              <a:defRPr sz="1100">
                <a:latin typeface="Arial"/>
              </a:defRPr>
            </a:pPr>
            <a:r>
              <a:t>  • Step 6 [Continuous Monitoring]: Real-time IoT groundwater depth telemetry and 5-season Sentinel-2 NDVI temporal tracking.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JalDrishti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latin typeface="Times New Roman"/>
              </a:defRPr>
            </a:pPr>
            <a: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 b="1">
                <a:latin typeface="Arial"/>
              </a:defRPr>
            </a:pPr>
            <a:r>
              <a:t>1. Technical &amp; Operational Feasibility: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200"/>
              </a:spcAft>
              <a:defRPr sz="1150">
                <a:latin typeface="Arial"/>
              </a:defRPr>
            </a:pPr>
            <a:r>
              <a:t>  • Zero-Download Web SPA: Runs smoothly on budget Android phones and desktop browsers without app-store dependencies.</a:t>
            </a:r>
          </a:p>
          <a:p>
            <a:pPr>
              <a:spcAft>
                <a:spcPts val="200"/>
              </a:spcAft>
              <a:defRPr sz="1150">
                <a:latin typeface="Arial"/>
              </a:defRPr>
            </a:pPr>
            <a:r>
              <a:t>  • Low-Bandwidth Optimization: Sub-50KB JSON payloads and vector tile caching ensure instant responsiveness on rural 2G/3G networks.</a:t>
            </a:r>
          </a:p>
          <a:p>
            <a:pPr>
              <a:spcAft>
                <a:spcPts val="200"/>
              </a:spcAft>
              <a:defRPr sz="1150">
                <a:latin typeface="Arial"/>
              </a:defRPr>
            </a:pPr>
            <a:r>
              <a:t>  • Offline-Resilient Field Logging: Evidence photos and GPS logs store in IndexedDB local cache, syncing automatically once online.</a:t>
            </a:r>
          </a:p>
          <a:p>
            <a:pPr>
              <a:spcBef>
                <a:spcPts val="400"/>
              </a:spcBef>
              <a:spcAft>
                <a:spcPts val="300"/>
              </a:spcAft>
              <a:defRPr sz="1400" b="1">
                <a:latin typeface="Arial"/>
              </a:defRPr>
            </a:pPr>
            <a:r>
              <a:t>2. Potential Challenges, Risks &amp; Mitigation Strategies:</a:t>
            </a:r>
          </a:p>
          <a:p>
            <a:pPr>
              <a:spcAft>
                <a:spcPts val="200"/>
              </a:spcAft>
              <a:defRPr sz="1100">
                <a:latin typeface="Arial"/>
              </a:defRPr>
            </a:pPr>
            <a:r>
              <a:t>  • Zero Cellular Reception in Deep Valleys: Mitigated via LoRaWAN mesh relay nodes hopping telemetry to a central solar gateway.</a:t>
            </a:r>
          </a:p>
          <a:p>
            <a:pPr>
              <a:spcAft>
                <a:spcPts val="200"/>
              </a:spcAft>
              <a:defRPr sz="1100">
                <a:latin typeface="Arial"/>
              </a:defRPr>
            </a:pPr>
            <a:r>
              <a:t>  • Lens Dust / Smudge in Field Photos: Mitigated via multi-point Bayer residual variance filtering and EXIF digest cross-validation.</a:t>
            </a:r>
          </a:p>
          <a:p>
            <a:pPr>
              <a:spcAft>
                <a:spcPts val="200"/>
              </a:spcAft>
              <a:defRPr sz="1100">
                <a:latin typeface="Arial"/>
              </a:defRPr>
            </a:pPr>
            <a:r>
              <a:t>  • Siltation Blocking Check-Dam Storage: Mitigated via ultrasonic silt sensors triggering automated desiltation work orders.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1">
                <a:latin typeface="Arial"/>
              </a:defRPr>
            </a:pPr>
            <a:r>
              <a:t>3. Financial Viability &amp; Budget ROI:</a:t>
            </a:r>
          </a:p>
          <a:p>
            <a:pPr>
              <a:defRPr sz="1150">
                <a:latin typeface="Arial"/>
              </a:defRPr>
            </a:pPr>
            <a:r>
              <a:t>  • Reduces monitoring costs by ~82% (from ₹20,000 to ₹2,500/structure/year) while preventing 20–30% capital loss from ghost structures.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JalDrishti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latin typeface="Times New Roman"/>
              </a:defRPr>
            </a:pPr>
            <a: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 b="1">
                <a:latin typeface="Arial"/>
              </a:defRPr>
            </a:pPr>
            <a:r>
              <a:t>1. Quantifiable Hydrological &amp; Ecological Impact:</a:t>
            </a:r>
          </a:p>
          <a:p>
            <a:pPr>
              <a:spcAft>
                <a:spcPts val="200"/>
              </a:spcAft>
              <a:defRPr sz="1150">
                <a:latin typeface="Arial"/>
              </a:defRPr>
            </a:pPr>
            <a:r>
              <a:t>  • +210% to +340% Water Retention Gain: Traps millions of liters of seasonal runoff, preventing flash floods in downstream valleys.</a:t>
            </a:r>
          </a:p>
          <a:p>
            <a:pPr>
              <a:spcAft>
                <a:spcPts val="200"/>
              </a:spcAft>
              <a:defRPr sz="1150">
                <a:latin typeface="Arial"/>
              </a:defRPr>
            </a:pPr>
            <a:r>
              <a:t>  • +2.4m to +4.2m Groundwater Table Rise: Sustains village borewells and open wells through peak summer months (April–May).</a:t>
            </a:r>
          </a:p>
          <a:p>
            <a:pPr>
              <a:spcAft>
                <a:spcPts val="200"/>
              </a:spcAft>
              <a:defRPr sz="1150">
                <a:latin typeface="Arial"/>
              </a:defRPr>
            </a:pPr>
            <a:r>
              <a:t>  • Topsoil &amp; Erosion Arrest: Traps 180+ tons of fertile topsoil per season per check dam, preserving soil organic carbon.</a:t>
            </a:r>
          </a:p>
          <a:p>
            <a:pPr>
              <a:spcBef>
                <a:spcPts val="400"/>
              </a:spcBef>
              <a:spcAft>
                <a:spcPts val="300"/>
              </a:spcAft>
              <a:defRPr sz="1400" b="1">
                <a:latin typeface="Arial"/>
              </a:defRPr>
            </a:pPr>
            <a:r>
              <a:t>2. Socio-Economic Benefits for Small &amp; Marginal Farmers:</a:t>
            </a:r>
          </a:p>
          <a:p>
            <a:pPr>
              <a:spcAft>
                <a:spcPts val="200"/>
              </a:spcAft>
              <a:defRPr sz="1150">
                <a:latin typeface="Arial"/>
              </a:defRPr>
            </a:pPr>
            <a:r>
              <a:t>  • Guaranteed Dual-Crop Farming (Kharif + Rabi): Eliminates distress seasonal migration to cities; supports high-value horticulture.</a:t>
            </a:r>
          </a:p>
          <a:p>
            <a:pPr>
              <a:spcAft>
                <a:spcPts val="200"/>
              </a:spcAft>
              <a:defRPr sz="1150">
                <a:latin typeface="Arial"/>
              </a:defRPr>
            </a:pPr>
            <a:r>
              <a:t>  • +144% Increase in Annual Farm Income: Average income grows from ₹58,000 (single crop) to ₹1,42,000 across 250–500 families/cluster.</a:t>
            </a:r>
          </a:p>
          <a:p>
            <a:pPr>
              <a:spcAft>
                <a:spcPts val="200"/>
              </a:spcAft>
              <a:defRPr sz="1150">
                <a:latin typeface="Arial"/>
              </a:defRPr>
            </a:pPr>
            <a:r>
              <a:t>  • Drinking Water Security: 100% elimination of emergency government water tanker dependency in treated villages.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1">
                <a:latin typeface="Arial"/>
              </a:defRPr>
            </a:pPr>
            <a:r>
              <a:t>3. Governance &amp; Anti-Corruption Impact:</a:t>
            </a:r>
          </a:p>
          <a:p>
            <a:pPr>
              <a:defRPr sz="1150">
                <a:latin typeface="Arial"/>
              </a:defRPr>
            </a:pPr>
            <a:r>
              <a:t>  • Restores 100% ground-truth transparency to public funds under PMKSY, MGNREGA &amp; CSR by linking fund release to cryptographic AI certificates.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JalDrishti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latin typeface="Times New Roman"/>
              </a:defRPr>
            </a:pPr>
            <a:r>
              <a:t>RESEARCH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 sz="1300" b="1">
                <a:latin typeface="Arial"/>
              </a:defRPr>
            </a:pPr>
            <a:r>
              <a:t>1. Hydrological Modeling &amp; National Policy Frameworks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150"/>
              </a:spcAft>
              <a:defRPr sz="1050">
                <a:latin typeface="Arial"/>
              </a:defRPr>
            </a:pPr>
            <a:r>
              <a:t>  • USDA-NRCS: Soil Conservation Service Curve Number (SCS-CN) Hydrological Runoff Estimation Methodology.</a:t>
            </a:r>
          </a:p>
          <a:p>
            <a:pPr>
              <a:spcAft>
                <a:spcPts val="150"/>
              </a:spcAft>
              <a:defRPr sz="1050">
                <a:latin typeface="Arial"/>
              </a:defRPr>
            </a:pPr>
            <a:r>
              <a:t>  • Central Ground Water Board (CGWB), Ministry of Jal Shakti: Master Plan for Artificial Recharge to Ground Water in India.</a:t>
            </a:r>
          </a:p>
          <a:p>
            <a:pPr>
              <a:spcAft>
                <a:spcPts val="150"/>
              </a:spcAft>
              <a:defRPr sz="1050">
                <a:latin typeface="Arial"/>
              </a:defRPr>
            </a:pPr>
            <a:r>
              <a:t>  • Pradhan Mantri Krishi Sinchayee Yojana (PMKSY - WDC): Guidelines for Geo-tagging &amp; Watershed Infrastructure Monitoring.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1">
                <a:latin typeface="Arial"/>
              </a:defRPr>
            </a:pPr>
            <a:r>
              <a:t>2. Geospatial Intelligence &amp; Remote Sensing</a:t>
            </a:r>
          </a:p>
          <a:p>
            <a:pPr>
              <a:spcAft>
                <a:spcPts val="150"/>
              </a:spcAft>
              <a:defRPr sz="1050">
                <a:latin typeface="Arial"/>
              </a:defRPr>
            </a:pPr>
            <a:r>
              <a:t>  • European Space Agency (ESA Copernicus): Sentinel-2 MSI Multi-Spectral Surface Reflectance (NDVI &amp; NDWI McFeeters).</a:t>
            </a:r>
          </a:p>
          <a:p>
            <a:pPr>
              <a:spcAft>
                <a:spcPts val="150"/>
              </a:spcAft>
              <a:defRPr sz="1050">
                <a:latin typeface="Arial"/>
              </a:defRPr>
            </a:pPr>
            <a:r>
              <a:t>  • ISRO &amp; NRSC: National Watershed Atlas &amp; Bhuvan Geospatial Hydrology Classification System.</a:t>
            </a:r>
          </a:p>
          <a:p>
            <a:pPr>
              <a:spcAft>
                <a:spcPts val="150"/>
              </a:spcAft>
              <a:defRPr sz="1050">
                <a:latin typeface="Arial"/>
              </a:defRPr>
            </a:pPr>
            <a:r>
              <a:t>  • OpenFreeMap.org: Open-source Vector Tile Topographical &amp; Hydrological Cartography Rendering Engine.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1">
                <a:latin typeface="Arial"/>
              </a:defRPr>
            </a:pPr>
            <a:r>
              <a:t>3. Computer Vision &amp; Cryptographic Forensic Verification</a:t>
            </a:r>
          </a:p>
          <a:p>
            <a:pPr>
              <a:spcAft>
                <a:spcPts val="150"/>
              </a:spcAft>
              <a:defRPr sz="1050">
                <a:latin typeface="Arial"/>
              </a:defRPr>
            </a:pPr>
            <a:r>
              <a:t>  • Lukas et al. (IEEE TIFS): Digital Camera Sensor Identification Using CMOS Photo-Response Non-Uniformity (PRNU) &amp; Bayer Noise.</a:t>
            </a:r>
          </a:p>
          <a:p>
            <a:pPr>
              <a:spcAft>
                <a:spcPts val="150"/>
              </a:spcAft>
              <a:defRPr sz="1050">
                <a:latin typeface="Arial"/>
              </a:defRPr>
            </a:pPr>
            <a:r>
              <a:t>  • Corvi et al. (IEEE CVPR): On the Detection of Synthetic Diffusion Images Using High-Frequency Residual Analysis.</a:t>
            </a:r>
          </a:p>
          <a:p>
            <a:pPr>
              <a:spcAft>
                <a:spcPts val="150"/>
              </a:spcAft>
              <a:defRPr sz="1050">
                <a:latin typeface="Arial"/>
              </a:defRPr>
            </a:pPr>
            <a:r>
              <a:t>  • NIST FIPS 180-4: Secure Hash Standard (SHA-256) for Tamper-Proof Electronic Evidence Certification.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JalDrishti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