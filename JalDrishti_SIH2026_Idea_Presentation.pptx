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32004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973835"/>
                </a:solidFill>
                <a:latin typeface="Calibri"/>
              </a:defRPr>
            </a:pPr>
            <a:r>
              <a:t>SMART INDIA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7160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>
                <a:latin typeface="Calibri"/>
              </a:defRPr>
            </a:pPr>
            <a:r>
              <a:rPr sz="1600" b="1">
                <a:solidFill>
                  <a:srgbClr val="000000"/>
                </a:solidFill>
              </a:rPr>
              <a:t>•  Problem Statement ID – SIH26031</a:t>
            </a:r>
          </a:p>
          <a:p>
            <a:r>
              <a:rPr sz="1600" b="1">
                <a:solidFill>
                  <a:srgbClr val="000000"/>
                </a:solidFill>
              </a:rPr>
              <a:t>•  Problem Statement Title- JalDrishti: AI-Powered Geospatial Watershed Siting, Siltation Tracking &amp; Anti-Fraud Verification Platform</a:t>
            </a:r>
          </a:p>
          <a:p>
            <a:r>
              <a:rPr sz="1600" b="1">
                <a:solidFill>
                  <a:srgbClr val="000000"/>
                </a:solidFill>
              </a:rPr>
              <a:t>•  Theme- Agriculture, FoodTech &amp; Rural Development / Smart Automation</a:t>
            </a:r>
          </a:p>
          <a:p>
            <a:r>
              <a:rPr sz="1600" b="1">
                <a:solidFill>
                  <a:srgbClr val="000000"/>
                </a:solidFill>
              </a:rPr>
              <a:t>•  PS Category- Software</a:t>
            </a:r>
          </a:p>
          <a:p>
            <a:r>
              <a:rPr sz="1600" b="1">
                <a:solidFill>
                  <a:srgbClr val="000000"/>
                </a:solidFill>
              </a:rPr>
              <a:t>•  Team ID- T133</a:t>
            </a:r>
          </a:p>
          <a:p>
            <a:r>
              <a:rPr sz="1600" b="1">
                <a:solidFill>
                  <a:srgbClr val="000000"/>
                </a:solidFill>
              </a:rPr>
              <a:t>•  Team Name - Team JalDrishti</a:t>
            </a:r>
          </a:p>
        </p:txBody>
      </p:sp>
      <p:pic>
        <p:nvPicPr>
          <p:cNvPr id="6" name="Picture 5" descr="bulb_perfec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828800"/>
            <a:ext cx="3749039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object 11">
            <a:extLst>
              <a:ext uri="{FF2B5EF4-FFF2-40B4-BE49-F238E27FC236}">
                <a16:creationId xmlns:a16="http://schemas.microsoft.com/office/drawing/2014/main" id="{5BF34AA6-0464-5921-305F-455208620853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47650" y="230678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pic>
        <p:nvPicPr>
          <p:cNvPr id="6" name="Picture 5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4572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973835"/>
                </a:solidFill>
                <a:latin typeface="Calibri"/>
              </a:defRPr>
            </a:pPr>
            <a:r>
              <a:t>JALDRISHTI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30352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973835"/>
                </a:solidFill>
                <a:latin typeface="Calibri"/>
              </a:defRPr>
            </a:pPr>
            <a:r>
              <a:t>AI-Powered Geospatial Watershed Intelligence &amp; Verification for Water Security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51560"/>
            <a:ext cx="5486400" cy="457200"/>
          </a:xfrm>
          <a:prstGeom prst="roundRect">
            <a:avLst/>
          </a:prstGeom>
          <a:solidFill>
            <a:srgbClr val="C87A76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Our Solution</a:t>
            </a:r>
          </a:p>
        </p:txBody>
      </p:sp>
      <p:pic>
        <p:nvPicPr>
          <p:cNvPr id="10" name="Picture 9" descr="icon_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664208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1627632"/>
            <a:ext cx="4937760" cy="621792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r>
              <a:rPr sz="1200" b="1">
                <a:solidFill>
                  <a:srgbClr val="973835"/>
                </a:solidFill>
                <a:latin typeface="Calibri"/>
              </a:rPr>
              <a:t>Full-Viewport Vector GIS: OpenFreeMap sub-meter vector tile hydrology engine mapping micro-catchments &amp; Strahler streams.</a:t>
            </a:r>
          </a:p>
        </p:txBody>
      </p:sp>
      <p:pic>
        <p:nvPicPr>
          <p:cNvPr id="12" name="Picture 11" descr="icon_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304288"/>
            <a:ext cx="438912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4400" y="2267712"/>
            <a:ext cx="4937760" cy="621792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r>
              <a:rPr sz="1200" b="1">
                <a:solidFill>
                  <a:srgbClr val="973835"/>
                </a:solidFill>
                <a:latin typeface="Calibri"/>
              </a:rPr>
              <a:t>AI Siting Optimizer: Automated DEM contour slope %, catchment ha &amp; runoff yield modeling for 0–100% check-dam suitability.</a:t>
            </a:r>
          </a:p>
        </p:txBody>
      </p:sp>
      <p:pic>
        <p:nvPicPr>
          <p:cNvPr id="14" name="Picture 13" descr="icon_meas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2944367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400" y="2907791"/>
            <a:ext cx="4937760" cy="621792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r>
              <a:rPr sz="1200" b="1">
                <a:solidFill>
                  <a:srgbClr val="973835"/>
                </a:solidFill>
                <a:latin typeface="Calibri"/>
              </a:rPr>
              <a:t>Multi-Layer Neural Forensics: CMOS optical sensor Bayer noise &amp; EXIF integrity scanner to eliminate ghost infrastructure.</a:t>
            </a:r>
          </a:p>
        </p:txBody>
      </p:sp>
      <p:pic>
        <p:nvPicPr>
          <p:cNvPr id="16" name="Picture 15" descr="icon_re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3584448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" y="3547872"/>
            <a:ext cx="4937760" cy="621792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r>
              <a:rPr sz="1200" b="1">
                <a:solidFill>
                  <a:srgbClr val="973835"/>
                </a:solidFill>
                <a:latin typeface="Calibri"/>
              </a:rPr>
              <a:t>Live IoT Mesh &amp; Satellite Playback: Real-time LoRaWAN/4G telemetry for groundwater &amp; silt alerts + Sentinel-2 5-season NDVI.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126480" y="1051560"/>
          <a:ext cx="56692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t>Problem today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t>How our solution fixes it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t>Inconsistent manual grading &amp; 15-30 day casework backlog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t>Instant automated triage: 82% clean dossiers auto-cleared in &lt;4.8s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t>Spliced signatures &amp; altered figures slip through undetected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t>PyTorch ELA CNN detects pixel-level tampering &amp; unauthorized edits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t>Cross-scheme duplicate billing &amp; ghost contractors drain funds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t>FAISS vector matching flags duplicate invoices across state &amp; MPLAD funds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t>Black-box AI rejections leave citizens without legal explanation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t>Transparent SHAP waterfall feature attributions with downloadable QR audit trail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365760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57200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 Catchment Ingestion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84632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>
                <a:solidFill>
                  <a:srgbClr val="212529"/>
                </a:solidFill>
                <a:latin typeface="Calibri"/>
              </a:defRPr>
            </a:pPr>
            <a:r>
              <a:t>Sub-meter vector basin delineation &amp; Strahler 1st-3rd order stream classification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70048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761488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2. AI Siting Optimization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61488" y="484632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>
                <a:solidFill>
                  <a:srgbClr val="212529"/>
                </a:solidFill>
                <a:latin typeface="Calibri"/>
              </a:defRPr>
            </a:pPr>
            <a:r>
              <a:t>Algorithmic DEM slope %, drainage convergence &amp; water yield storage calculation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74336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065776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3. Field Evidence Capture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65776" y="484632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>
                <a:solidFill>
                  <a:srgbClr val="212529"/>
                </a:solidFill>
                <a:latin typeface="Calibri"/>
              </a:defRPr>
            </a:pPr>
            <a:r>
              <a:t>Mobile geo-tagged photo upload with client-side SHA-256 hashing &amp; EXIF verification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78624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370064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4. Neural AI Forensics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484632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>
                <a:solidFill>
                  <a:srgbClr val="212529"/>
                </a:solidFill>
                <a:latin typeface="Calibri"/>
              </a:defRPr>
            </a:pPr>
            <a:r>
              <a:t>CMOS sensor Bayer noise vs diffusion anomaly scan to verify genuine construction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2912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674352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5. Milestone Fund &amp; IoT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74352" y="484632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>
                <a:solidFill>
                  <a:srgbClr val="212529"/>
                </a:solidFill>
                <a:latin typeface="Calibri"/>
              </a:defRPr>
            </a:pPr>
            <a:r>
              <a:t>Automated cryptographic audit certificate for fund release + continuous LoRaWAN telemetry</a:t>
            </a:r>
          </a:p>
        </p:txBody>
      </p:sp>
      <p:pic>
        <p:nvPicPr>
          <p:cNvPr id="35" name="object 11">
            <a:extLst>
              <a:ext uri="{FF2B5EF4-FFF2-40B4-BE49-F238E27FC236}">
                <a16:creationId xmlns:a16="http://schemas.microsoft.com/office/drawing/2014/main" id="{A1EFDAFB-6082-2913-C8F5-32EBF1425E02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6200" y="15632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82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973835"/>
                </a:solidFill>
                <a:latin typeface="Calibri"/>
              </a:defRPr>
            </a:pPr>
            <a:r>
              <a:t>TECHNICAL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Calibri"/>
              </a:defRPr>
            </a:pPr>
            <a:r>
              <a:t>Tech Stack -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6304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t>Vanilla JS / HTML5 / Tailwind</a:t>
            </a:r>
          </a:p>
          <a:p>
            <a:r>
              <a:t>GIS Command Center &amp; Field Web App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05740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t>OpenFreeMap / MapLibre GL</a:t>
            </a:r>
          </a:p>
          <a:p>
            <a:r>
              <a:t>Sub-meter Precision Vector Tile Hydrology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65176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t>Leaflet.js &amp; Chart.js</a:t>
            </a:r>
          </a:p>
          <a:p>
            <a:r>
              <a:t>Interactive GIS Layers &amp; Telemetry Charts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24612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t>PyTorch / OpenCV</a:t>
            </a:r>
          </a:p>
          <a:p>
            <a:r>
              <a:t>CMOS Bayer Pattern Noise &amp; Tamper 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84048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t>DEM Hydro-Solver Engine</a:t>
            </a:r>
          </a:p>
          <a:p>
            <a:r>
              <a:t>Automated SCS-CN Runoff &amp; Siting Algorithm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43484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t>LoRaWAN &amp; 4G LTE-M</a:t>
            </a:r>
          </a:p>
          <a:p>
            <a:r>
              <a:t>Solar Micro-RTU Groundwater &amp; Silt Mesh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502920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t>Sentinel-2 MSI (ESA)</a:t>
            </a:r>
          </a:p>
          <a:p>
            <a:r>
              <a:t>5-Season Multi-Spectral NDVI / NDWI Satellite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62356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t>SHA-256 &amp; EXIF Digest</a:t>
            </a:r>
          </a:p>
          <a:p>
            <a:r>
              <a:t>Tamper-Proof Audit Certificate Cryptography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1097280"/>
            <a:ext cx="621792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154680" y="1188720"/>
            <a:ext cx="5943600" cy="411480"/>
          </a:xfrm>
          <a:prstGeom prst="roundRect">
            <a:avLst/>
          </a:prstGeom>
          <a:solidFill>
            <a:srgbClr val="235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   Approach 1 – Vector GIS Hydrology &amp; AI Siting Optimization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54680" y="1691640"/>
            <a:ext cx="1417320" cy="1691640"/>
          </a:xfrm>
          <a:prstGeom prst="roundRect">
            <a:avLst/>
          </a:prstGeom>
          <a:solidFill>
            <a:srgbClr val="F0F6FF"/>
          </a:solidFill>
          <a:ln w="1270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235FAF"/>
                </a:solidFill>
                <a:latin typeface="Calibri"/>
              </a:defRPr>
            </a:pPr>
            <a:r>
              <a:t>Micro-Catchment Ingestion</a:t>
            </a:r>
          </a:p>
          <a:p>
            <a:r>
              <a:t>Sub-meter watershed polygon delineation and Strahler 1st-3rd order stream classification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1691640"/>
            <a:ext cx="1417320" cy="1691640"/>
          </a:xfrm>
          <a:prstGeom prst="roundRect">
            <a:avLst/>
          </a:prstGeom>
          <a:solidFill>
            <a:srgbClr val="F0F6FF"/>
          </a:solidFill>
          <a:ln w="1270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235FAF"/>
                </a:solidFill>
                <a:latin typeface="Calibri"/>
              </a:defRPr>
            </a:pPr>
            <a:r>
              <a:t>DEM Slope Gradient</a:t>
            </a:r>
          </a:p>
          <a:p>
            <a:r>
              <a:t>Automated DEM contour slope calculation (ideal 3%-12% for masonry check-dams)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17336" y="1691640"/>
            <a:ext cx="1417320" cy="1691640"/>
          </a:xfrm>
          <a:prstGeom prst="roundRect">
            <a:avLst/>
          </a:prstGeom>
          <a:solidFill>
            <a:srgbClr val="F0F6FF"/>
          </a:solidFill>
          <a:ln w="1270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235FAF"/>
                </a:solidFill>
                <a:latin typeface="Calibri"/>
              </a:defRPr>
            </a:pPr>
            <a:r>
              <a:t>SCS-CN Runoff Model</a:t>
            </a:r>
          </a:p>
          <a:p>
            <a:r>
              <a:t>Estimates potential maximum soil retention and seasonal water yield volume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98664" y="1691640"/>
            <a:ext cx="1417320" cy="1691640"/>
          </a:xfrm>
          <a:prstGeom prst="roundRect">
            <a:avLst/>
          </a:prstGeom>
          <a:solidFill>
            <a:srgbClr val="F0F6FF"/>
          </a:solidFill>
          <a:ln w="1270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235FAF"/>
                </a:solidFill>
                <a:latin typeface="Calibri"/>
              </a:defRPr>
            </a:pPr>
            <a:r>
              <a:t>Algorithmic Siting Verdict</a:t>
            </a:r>
          </a:p>
          <a:p>
            <a:r>
              <a:t>Instant 0-100% suitability score + recommended hydraulic structure type &amp; capacity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17520" y="3703320"/>
            <a:ext cx="621792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154680" y="3794760"/>
            <a:ext cx="5943600" cy="411480"/>
          </a:xfrm>
          <a:prstGeom prst="roundRect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   Approach 2 – Multi-Layer Neural AI Forensics &amp; IoT Telemetry Mesh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54680" y="4297680"/>
            <a:ext cx="1417320" cy="16916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238741"/>
                </a:solidFill>
                <a:latin typeface="Calibri"/>
              </a:defRPr>
            </a:pPr>
            <a:r>
              <a:t>Optical Noise Residual</a:t>
            </a:r>
          </a:p>
          <a:p>
            <a:r>
              <a:t>Evaluates high-frequency CMOS photon noise variance to distinguish real cameras from AI diffusion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36008" y="4297680"/>
            <a:ext cx="1417320" cy="16916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238741"/>
                </a:solidFill>
                <a:latin typeface="Calibri"/>
              </a:defRPr>
            </a:pPr>
            <a:r>
              <a:t>EXIF Cryptographic Audit</a:t>
            </a:r>
          </a:p>
          <a:p>
            <a:r>
              <a:t>Verifies GPS coordinates, timestamp integrity, and focal length device signatures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17336" y="4297680"/>
            <a:ext cx="1417320" cy="16916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238741"/>
                </a:solidFill>
                <a:latin typeface="Calibri"/>
              </a:defRPr>
            </a:pPr>
            <a:r>
              <a:t>LoRaWAN Ground Sensor Mesh</a:t>
            </a:r>
          </a:p>
          <a:p>
            <a:r>
              <a:t>Solar Micro-RTU probes deliver continuous groundwater depth, siltation %, and soil moisture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98664" y="4297680"/>
            <a:ext cx="1417320" cy="16916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238741"/>
                </a:solidFill>
                <a:latin typeface="Calibri"/>
              </a:defRPr>
            </a:pPr>
            <a:r>
              <a:t>Sentinel-2 Temporal Playback</a:t>
            </a:r>
          </a:p>
          <a:p>
            <a:r>
              <a:t>Multi-spectral 5-season timeline tracking NDVI biomass gain and NDWI water spread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20" y="1097280"/>
            <a:ext cx="2468880" cy="5029200"/>
          </a:xfrm>
          <a:prstGeom prst="roundRect">
            <a:avLst/>
          </a:prstGeom>
          <a:solidFill>
            <a:srgbClr val="FDF5F5"/>
          </a:solidFill>
          <a:ln w="1905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555480" y="1234440"/>
            <a:ext cx="2194560" cy="411480"/>
          </a:xfrm>
          <a:prstGeom prst="round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Final Output: GIS Command Cockpit &amp; Milestone Audit Certificate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55480" y="1783080"/>
            <a:ext cx="21945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t>Suitability Scoring Gauge (0–100%)</a:t>
            </a:r>
          </a:p>
          <a:p>
            <a:r>
              <a:t>Algorithmic rating based on slope, drainage convergence, and soil permeability.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2606040"/>
            <a:ext cx="21945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t>Cryptographic Audit Certificate</a:t>
            </a:r>
          </a:p>
          <a:p>
            <a:r>
              <a:t>SHA-256 hashed compliance report with GPS coordinates and inspection timestamps.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3429000"/>
            <a:ext cx="21945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t>Interactive Temporal Slider</a:t>
            </a:r>
          </a:p>
          <a:p>
            <a:r>
              <a:t>5-season comparison (May drought baseline to Oct peak recharge) tracking NDVI gains.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55480" y="4251960"/>
            <a:ext cx="21945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t>Automated Desiltation Alerts</a:t>
            </a:r>
          </a:p>
          <a:p>
            <a:r>
              <a:t>Ultrasonic sensor threshold (&gt;25% silt) triggers proactive maintenance work orders.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55480" y="5074920"/>
            <a:ext cx="21945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t>Verifiable Public Dossier</a:t>
            </a:r>
          </a:p>
          <a:p>
            <a:r>
              <a:t>Citizen &amp; Gram Panchayat transparency dossier with contractor details &amp; water table rise.</a:t>
            </a:r>
          </a:p>
        </p:txBody>
      </p:sp>
      <p:pic>
        <p:nvPicPr>
          <p:cNvPr id="37" name="object 11">
            <a:extLst>
              <a:ext uri="{FF2B5EF4-FFF2-40B4-BE49-F238E27FC236}">
                <a16:creationId xmlns:a16="http://schemas.microsoft.com/office/drawing/2014/main" id="{D7058D65-B325-9582-0B5D-61E0BAE3DAB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781" y="73152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82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973835"/>
                </a:solidFill>
                <a:latin typeface="Calibri"/>
              </a:defRPr>
            </a:pPr>
            <a:r>
              <a:t>FEASIBILITY AND VIABILITY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86868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12529"/>
                </a:solidFill>
                <a:latin typeface="Calibri"/>
              </a:defRPr>
            </a:pPr>
            <a:r>
              <a:t>A production-ready, lightweight geospatial intelligence platform designed for immediate deployment in rural watersheds.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86868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12529"/>
                </a:solidFill>
                <a:latin typeface="Calibri"/>
              </a:defRPr>
            </a:pPr>
            <a:r>
              <a:t>Technically feasible, low-bandwidth architecture operating at &lt; ₹2,500/structure/year with offline-ready field sync.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572768"/>
            <a:ext cx="3383280" cy="4645152"/>
          </a:xfrm>
          <a:prstGeom prst="roundRect">
            <a:avLst/>
          </a:prstGeom>
          <a:solidFill>
            <a:srgbClr val="F5FAFF"/>
          </a:solidFill>
          <a:ln w="1905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02920" y="1691640"/>
            <a:ext cx="3108960" cy="384048"/>
          </a:xfrm>
          <a:prstGeom prst="roundRect">
            <a:avLst/>
          </a:prstGeom>
          <a:solidFill>
            <a:srgbClr val="235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Technical Feasibility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176272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235FAF"/>
                </a:solidFill>
                <a:latin typeface="Calibri"/>
              </a:rPr>
              <a:t>• Zero-Download Web SPA: Runs smoothly on budget Android smartphones and desktop browsers without native app installations.</a:t>
            </a:r>
          </a:p>
          <a:p>
            <a:r>
              <a:rPr sz="1100" b="1">
                <a:solidFill>
                  <a:srgbClr val="235FAF"/>
                </a:solidFill>
                <a:latin typeface="Calibri"/>
              </a:rPr>
              <a:t>• Low-Bandwidth Edge Capability: Sub-50KB JSON payloads and vector tile caching ensure instant map rendering even on 2G/3G networks.</a:t>
            </a:r>
          </a:p>
          <a:p>
            <a:r>
              <a:rPr sz="1100" b="1">
                <a:solidFill>
                  <a:srgbClr val="235FAF"/>
                </a:solidFill>
                <a:latin typeface="Calibri"/>
              </a:rPr>
              <a:t>• Offline-Resilient Field Logging: Field evidence photos and GPS coordinates store in IndexedDB local cache, syncing automatically when online.</a:t>
            </a:r>
          </a:p>
          <a:p>
            <a:r>
              <a:rPr sz="1100" b="1">
                <a:solidFill>
                  <a:srgbClr val="235FAF"/>
                </a:solidFill>
                <a:latin typeface="Calibri"/>
              </a:rPr>
              <a:t>• Open Standards &amp; Modularity: GeoJSON and WMS/WFS compatible with ISRO Bhuvan, CGWB, and National Watershed repositories.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1572768"/>
            <a:ext cx="4389120" cy="46451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069080" y="1691640"/>
            <a:ext cx="4114800" cy="384048"/>
          </a:xfrm>
          <a:prstGeom prst="round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Potential Risks &amp; Mitigation Strategies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2212848"/>
            <a:ext cx="1965960" cy="8686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000" b="1">
                <a:solidFill>
                  <a:srgbClr val="973835"/>
                </a:solidFill>
                <a:latin typeface="Calibri"/>
              </a:defRPr>
            </a:pPr>
            <a:r>
              <a:t>Risk: Zero cellular reception in deep valleys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212848"/>
            <a:ext cx="2011680" cy="868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950">
                <a:solidFill>
                  <a:srgbClr val="212529"/>
                </a:solidFill>
                <a:latin typeface="Calibri"/>
              </a:defRPr>
            </a:pPr>
            <a:r>
              <a:t>Fix: Dual-hop LoRaWAN mesh relay nodes transmit telemetry to a centralized solar gateway with 4G fallback.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69080" y="3172968"/>
            <a:ext cx="1965960" cy="8686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000" b="1">
                <a:solidFill>
                  <a:srgbClr val="973835"/>
                </a:solidFill>
                <a:latin typeface="Calibri"/>
              </a:defRPr>
            </a:pPr>
            <a:r>
              <a:t>Risk: Camera lens dust / smudge in field photos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72968"/>
            <a:ext cx="2011680" cy="868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950">
                <a:solidFill>
                  <a:srgbClr val="212529"/>
                </a:solidFill>
                <a:latin typeface="Calibri"/>
              </a:defRPr>
            </a:pPr>
            <a:r>
              <a:t>Fix: Multi-point Bayer residual variance filtering and EXIF device digest cross-validation prevent false tamper flags.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69080" y="4133087"/>
            <a:ext cx="1965960" cy="8686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000" b="1">
                <a:solidFill>
                  <a:srgbClr val="973835"/>
                </a:solidFill>
                <a:latin typeface="Calibri"/>
              </a:defRPr>
            </a:pPr>
            <a:r>
              <a:t>Risk: Siltation reducing dam storage capacity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33087"/>
            <a:ext cx="2011680" cy="868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950">
                <a:solidFill>
                  <a:srgbClr val="212529"/>
                </a:solidFill>
                <a:latin typeface="Calibri"/>
              </a:defRPr>
            </a:pPr>
            <a:r>
              <a:t>Fix: Ultrasonic silt profilers trigger automated desiltation work orders before capacity drops below 75%.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69080" y="5093208"/>
            <a:ext cx="1965960" cy="8686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000" b="1">
                <a:solidFill>
                  <a:srgbClr val="973835"/>
                </a:solidFill>
                <a:latin typeface="Calibri"/>
              </a:defRPr>
            </a:pPr>
            <a:r>
              <a:t>Risk: Resistance from local field contractors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5093208"/>
            <a:ext cx="2011680" cy="868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950">
                <a:solidFill>
                  <a:srgbClr val="212529"/>
                </a:solidFill>
                <a:latin typeface="Calibri"/>
              </a:defRPr>
            </a:pPr>
            <a:r>
              <a:t>Fix: Intuitive mobile PWA with instant digital milestone clearance certificates speeds up legitimate contractor payments.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1572768"/>
            <a:ext cx="3291840" cy="4645152"/>
          </a:xfrm>
          <a:prstGeom prst="roundRect">
            <a:avLst/>
          </a:prstGeom>
          <a:solidFill>
            <a:srgbClr val="F8FDFA"/>
          </a:solidFill>
          <a:ln w="1905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641080" y="1691640"/>
            <a:ext cx="3017520" cy="384048"/>
          </a:xfrm>
          <a:prstGeom prst="roundRect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Practical Implementation &amp; Viability</a:t>
            </a:r>
          </a:p>
        </p:txBody>
      </p:sp>
      <p:sp>
        <p:nvSpPr>
          <p:cNvPr id="25" name="Oval 24"/>
          <p:cNvSpPr/>
          <p:nvPr/>
        </p:nvSpPr>
        <p:spPr>
          <a:xfrm>
            <a:off x="8641080" y="224028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2203704"/>
            <a:ext cx="2651760" cy="7315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1050" b="1">
                <a:solidFill>
                  <a:srgbClr val="238741"/>
                </a:solidFill>
                <a:latin typeface="Calibri"/>
              </a:defRPr>
            </a:pPr>
            <a:r>
              <a:t>Drastic Cost Reduction:</a:t>
            </a:r>
          </a:p>
          <a:p>
            <a:r>
              <a:t>Drops monitoring cost from ₹20,000 (manual travel &amp; paper audits) to ₹2,500 per structure/year (~82% savings).</a:t>
            </a:r>
          </a:p>
        </p:txBody>
      </p:sp>
      <p:sp>
        <p:nvSpPr>
          <p:cNvPr id="27" name="Oval 26"/>
          <p:cNvSpPr/>
          <p:nvPr/>
        </p:nvSpPr>
        <p:spPr>
          <a:xfrm>
            <a:off x="8641080" y="301752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2980944"/>
            <a:ext cx="2651760" cy="7315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1050" b="1">
                <a:solidFill>
                  <a:srgbClr val="238741"/>
                </a:solidFill>
                <a:latin typeface="Calibri"/>
              </a:defRPr>
            </a:pPr>
            <a:r>
              <a:t>Immediate Deployability:</a:t>
            </a:r>
          </a:p>
          <a:p>
            <a:r>
              <a:t>Zero-server setup with static web client and serverless microservices deployable on State Data Centers (SDC).</a:t>
            </a:r>
          </a:p>
        </p:txBody>
      </p:sp>
      <p:sp>
        <p:nvSpPr>
          <p:cNvPr id="29" name="Oval 28"/>
          <p:cNvSpPr/>
          <p:nvPr/>
        </p:nvSpPr>
        <p:spPr>
          <a:xfrm>
            <a:off x="8641080" y="379476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758184"/>
            <a:ext cx="2651760" cy="7315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1050" b="1">
                <a:solidFill>
                  <a:srgbClr val="238741"/>
                </a:solidFill>
                <a:latin typeface="Calibri"/>
              </a:defRPr>
            </a:pPr>
            <a:r>
              <a:t>Frictionless Adoption:</a:t>
            </a:r>
          </a:p>
          <a:p>
            <a:r>
              <a:t>Mobile PWA requires zero officer training; plain-language site dossiers with interactive GIS visuals.</a:t>
            </a:r>
          </a:p>
        </p:txBody>
      </p:sp>
      <p:sp>
        <p:nvSpPr>
          <p:cNvPr id="31" name="Oval 30"/>
          <p:cNvSpPr/>
          <p:nvPr/>
        </p:nvSpPr>
        <p:spPr>
          <a:xfrm>
            <a:off x="8641080" y="457200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4535424"/>
            <a:ext cx="2651760" cy="7315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1050" b="1">
                <a:solidFill>
                  <a:srgbClr val="238741"/>
                </a:solidFill>
                <a:latin typeface="Calibri"/>
              </a:defRPr>
            </a:pPr>
            <a:r>
              <a:t>Statutory Admissibility:</a:t>
            </a:r>
          </a:p>
          <a:p>
            <a:r>
              <a:t>Cryptographic SHA-256 digital certificates admissible under PMKSY, MGNREGA, and state audit rules.</a:t>
            </a:r>
          </a:p>
        </p:txBody>
      </p:sp>
      <p:sp>
        <p:nvSpPr>
          <p:cNvPr id="33" name="Oval 32"/>
          <p:cNvSpPr/>
          <p:nvPr/>
        </p:nvSpPr>
        <p:spPr>
          <a:xfrm>
            <a:off x="8641080" y="534924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6840" y="5312664"/>
            <a:ext cx="2651760" cy="7315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1050" b="1">
                <a:solidFill>
                  <a:srgbClr val="238741"/>
                </a:solidFill>
                <a:latin typeface="Calibri"/>
              </a:defRPr>
            </a:pPr>
            <a:r>
              <a:t>Real-Time Telemetry:</a:t>
            </a:r>
          </a:p>
          <a:p>
            <a:r>
              <a:t>Zilla Parishad &amp; Ministerial dashboard offers live tracking of groundwater rise, silt alerts, and drought vulnerability.</a:t>
            </a:r>
          </a:p>
        </p:txBody>
      </p:sp>
      <p:pic>
        <p:nvPicPr>
          <p:cNvPr id="36" name="object 11">
            <a:extLst>
              <a:ext uri="{FF2B5EF4-FFF2-40B4-BE49-F238E27FC236}">
                <a16:creationId xmlns:a16="http://schemas.microsoft.com/office/drawing/2014/main" id="{F8427F15-1C04-C4D6-9E64-446B9FD55986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9450" y="140011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82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973835"/>
                </a:solidFill>
                <a:latin typeface="Calibri"/>
              </a:defRPr>
            </a:pPr>
            <a:r>
              <a:t>IMPACT AND BENEFITS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973835"/>
                </a:solidFill>
                <a:latin typeface="Calibri"/>
              </a:defRPr>
            </a:pPr>
            <a:r>
              <a:t>POTENTIAL IMPACT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89888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t>1. GEOSPATIAL PLANNING</a:t>
            </a:r>
          </a:p>
          <a:p>
            <a:r>
              <a:t>Vector GIS delineates micro-catchments and calculates Strahler stream drainage hierarchies.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350008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t>2. AI SITING OPTIMIZATION</a:t>
            </a:r>
          </a:p>
          <a:p>
            <a:r>
              <a:t>DEM slope and runoff convergence algorithm scores optimal check-dam coordinates (0–100%).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310128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t>3. FORENSIC EVIDENCE</a:t>
            </a:r>
          </a:p>
          <a:p>
            <a:r>
              <a:t>Mobile photo capture with CMOS Bayer sensor pattern verification and SHA-256 hashing.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4270248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t>4. MILESTONE CLEARANCE</a:t>
            </a:r>
          </a:p>
          <a:p>
            <a:r>
              <a:t>Verified cryptographic audit certificate triggers transparent fund disbursement.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5230368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t>5. CONTINUOUS IMPACT</a:t>
            </a:r>
          </a:p>
          <a:p>
            <a:r>
              <a:t>LoRaWAN sensors and Sentinel-2 satellite track groundwater recharge and +144% farmer income.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105156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973835"/>
                </a:solidFill>
                <a:latin typeface="Calibri"/>
              </a:defRPr>
            </a:pPr>
            <a:r>
              <a:t>BENEFITS BY PILLAR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138988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50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566160" y="1463040"/>
            <a:ext cx="1737360" cy="731520"/>
          </a:xfrm>
          <a:prstGeom prst="roundRect">
            <a:avLst/>
          </a:prstGeom>
          <a:solidFill>
            <a:srgbClr val="6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Target Beneficiaries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1408176"/>
            <a:ext cx="3474720" cy="822960"/>
          </a:xfrm>
          <a:prstGeom prst="rect">
            <a:avLst/>
          </a:prstGeom>
          <a:noFill/>
        </p:spPr>
        <p:txBody>
          <a:bodyPr wrap="square" tIns="18288">
            <a:spAutoFit/>
          </a:bodyPr>
          <a:lstStyle/>
          <a:p>
            <a:pPr>
              <a:defRPr sz="950">
                <a:solidFill>
                  <a:srgbClr val="212529"/>
                </a:solidFill>
                <a:latin typeface="Calibri"/>
              </a:defRPr>
            </a:pPr>
            <a:r>
              <a:t>• 250–500 small &amp; marginal farming families per micro-watershed cluster</a:t>
            </a:r>
          </a:p>
          <a:p>
            <a:r>
              <a:t>• State Water Resources Depts, Zilla Parishads, CSR Foundations &amp; Gram Panchayats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235000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566160" y="2423160"/>
            <a:ext cx="1737360" cy="731520"/>
          </a:xfrm>
          <a:prstGeom prst="roundRect">
            <a:avLst/>
          </a:prstGeom>
          <a:solidFill>
            <a:srgbClr val="D23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Hydrological 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2368296"/>
            <a:ext cx="3474720" cy="822960"/>
          </a:xfrm>
          <a:prstGeom prst="rect">
            <a:avLst/>
          </a:prstGeom>
          <a:noFill/>
        </p:spPr>
        <p:txBody>
          <a:bodyPr wrap="square" tIns="18288">
            <a:spAutoFit/>
          </a:bodyPr>
          <a:lstStyle/>
          <a:p>
            <a:pPr>
              <a:defRPr sz="950">
                <a:solidFill>
                  <a:srgbClr val="212529"/>
                </a:solidFill>
                <a:latin typeface="Calibri"/>
              </a:defRPr>
            </a:pPr>
            <a:r>
              <a:t>• +210% to +340% increase in water retention capacity; prevents flash-flood erosion in valleys</a:t>
            </a:r>
          </a:p>
          <a:p>
            <a:r>
              <a:t>• +2.4m to +4.2m water table elevation in downstream wells, sustaining borewells through summer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74720" y="331012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2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566160" y="3383280"/>
            <a:ext cx="1737360" cy="731520"/>
          </a:xfrm>
          <a:prstGeom prst="roundRect">
            <a:avLst/>
          </a:prstGeom>
          <a:solidFill>
            <a:srgbClr val="C88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Socio-Economic Impact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3328416"/>
            <a:ext cx="3474720" cy="822960"/>
          </a:xfrm>
          <a:prstGeom prst="rect">
            <a:avLst/>
          </a:prstGeom>
          <a:noFill/>
        </p:spPr>
        <p:txBody>
          <a:bodyPr wrap="square" tIns="18288">
            <a:spAutoFit/>
          </a:bodyPr>
          <a:lstStyle/>
          <a:p>
            <a:pPr>
              <a:defRPr sz="950">
                <a:solidFill>
                  <a:srgbClr val="212529"/>
                </a:solidFill>
                <a:latin typeface="Calibri"/>
              </a:defRPr>
            </a:pPr>
            <a:r>
              <a:t>• Guarantees dual-crop (Kharif + Rabi) cycles, ending distress seasonal migration</a:t>
            </a:r>
          </a:p>
          <a:p>
            <a:r>
              <a:t>• +144% farmer income growth: average annual income rises from ₹58,000 to ₹1,42,000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0" y="427024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7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566160" y="4343400"/>
            <a:ext cx="1737360" cy="731520"/>
          </a:xfrm>
          <a:prstGeom prst="roundRect">
            <a:avLst/>
          </a:prstGeom>
          <a:solidFill>
            <a:srgbClr val="1E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Governance &amp; Anti-Corruption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4288536"/>
            <a:ext cx="3474720" cy="822960"/>
          </a:xfrm>
          <a:prstGeom prst="rect">
            <a:avLst/>
          </a:prstGeom>
          <a:noFill/>
        </p:spPr>
        <p:txBody>
          <a:bodyPr wrap="square" tIns="18288">
            <a:spAutoFit/>
          </a:bodyPr>
          <a:lstStyle/>
          <a:p>
            <a:pPr>
              <a:defRPr sz="950">
                <a:solidFill>
                  <a:srgbClr val="212529"/>
                </a:solidFill>
                <a:latin typeface="Calibri"/>
              </a:defRPr>
            </a:pPr>
            <a:r>
              <a:t>• 100% elimination of ghost infrastructure fraud by linking payments to cryptographic AI certificates</a:t>
            </a:r>
          </a:p>
          <a:p>
            <a:r>
              <a:t>• Slashes administrative verification expenditure by 82% (from ₹20,000 to ₹2,500/year)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74720" y="523036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9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566160" y="5303520"/>
            <a:ext cx="1737360" cy="731520"/>
          </a:xfrm>
          <a:prstGeom prst="roundRect">
            <a:avLst/>
          </a:prstGeom>
          <a:solidFill>
            <a:srgbClr val="1E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Environmental Impact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5248656"/>
            <a:ext cx="3474720" cy="822960"/>
          </a:xfrm>
          <a:prstGeom prst="rect">
            <a:avLst/>
          </a:prstGeom>
          <a:noFill/>
        </p:spPr>
        <p:txBody>
          <a:bodyPr wrap="square" tIns="18288">
            <a:spAutoFit/>
          </a:bodyPr>
          <a:lstStyle/>
          <a:p>
            <a:pPr>
              <a:defRPr sz="950">
                <a:solidFill>
                  <a:srgbClr val="212529"/>
                </a:solidFill>
                <a:latin typeface="Calibri"/>
              </a:defRPr>
            </a:pPr>
            <a:r>
              <a:t>• Arrests 180+ tons of topsoil erosion per dam/season; cools micro-climate by 1.5°C–2.0°C</a:t>
            </a:r>
          </a:p>
          <a:p>
            <a:r>
              <a:t>• +0.28 NDVI green cover expansion supports biodiversity and soil organic carbon replenishment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35440" y="1389888"/>
            <a:ext cx="2651760" cy="4754880"/>
          </a:xfrm>
          <a:prstGeom prst="roundRect">
            <a:avLst/>
          </a:prstGeom>
          <a:solidFill>
            <a:srgbClr val="FDF5F5"/>
          </a:solidFill>
          <a:ln w="1905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973835"/>
                </a:solidFill>
                <a:latin typeface="Calibri"/>
              </a:defRPr>
            </a:pPr>
            <a:r>
              <a:t>JALDRISHTI GOVERNANCE VISION</a:t>
            </a:r>
          </a:p>
          <a:p>
            <a:r>
              <a:t>"A high-precision, tamper-proof, and explainable geospatial intelligence infrastructure ensuring every drop of rain is captured and every rupee of water conservation funds delivers verified ground truth."</a:t>
            </a:r>
          </a:p>
          <a:p>
            <a:r>
              <a:t>✓ +340% Water Retention</a:t>
            </a:r>
            <a:br/>
            <a:r>
              <a:t>✓ +3.5m Aquifer Rise</a:t>
            </a:r>
            <a:br/>
            <a:r>
              <a:t>✓ +144% Farmer Income</a:t>
            </a:r>
            <a:br/>
            <a:r>
              <a:t>✓ 82% Audit Cost Reduction</a:t>
            </a:r>
          </a:p>
        </p:txBody>
      </p:sp>
      <p:pic>
        <p:nvPicPr>
          <p:cNvPr id="32" name="object 11">
            <a:extLst>
              <a:ext uri="{FF2B5EF4-FFF2-40B4-BE49-F238E27FC236}">
                <a16:creationId xmlns:a16="http://schemas.microsoft.com/office/drawing/2014/main" id="{89DF67E6-8734-5E3F-B7BF-583071D0687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6200" y="104741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82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973835"/>
                </a:solidFill>
                <a:latin typeface="Calibri"/>
              </a:defRPr>
            </a:pPr>
            <a:r>
              <a:t>RESEARCH  AND 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500" b="1">
                <a:solidFill>
                  <a:srgbClr val="973835"/>
                </a:solidFill>
                <a:latin typeface="Calibri"/>
              </a:defRPr>
            </a:pPr>
            <a:r>
              <a:t>1. Statutory Standards &amp; Water Policy Frameworks</a:t>
            </a:r>
          </a:p>
          <a:p>
            <a:r>
              <a:t>•  Central Ground Water Board (CGWB), Ministry of Jal Shakti: Master Plan for Artificial Recharge to Ground Water in India (2020 Guidelines).</a:t>
            </a:r>
          </a:p>
          <a:p>
            <a:r>
              <a:t>•  Pradhan Mantri Krishi Sinchayee Yojana (PMKSY - Watershed Development Component): Statutory guidelines for Geo-tagging and digital asset verification.</a:t>
            </a:r>
          </a:p>
          <a:p>
            <a:r>
              <a:t>•  Mission Amrit Sarovar &amp; Jal Jeevan Mission: National geospatial frameworks for rejuvenation of 50,000+ water bodies and rural water security.</a:t>
            </a:r>
          </a:p>
          <a:p>
            <a:r>
              <a:t>•  Food and Agriculture Organization (FAO): Watershed Management Field Manual – Soil &amp; Water Conservation Structures (FAO Conservation Guide 13/3).</a:t>
            </a:r>
          </a:p>
          <a:p>
            <a:r>
              <a:t>2. Hydrological Modeling, Geospatial Cartography &amp; Remote Sensing</a:t>
            </a:r>
          </a:p>
          <a:p>
            <a:r>
              <a:t>•  USDA-NRCS: Soil Conservation Service Curve Number (SCS-CN) Hydrological Runoff Modeling Methodology.</a:t>
            </a:r>
          </a:p>
          <a:p>
            <a:r>
              <a:t>•  Strahler, A. N. (1957): Quantitative Analysis of Watershed Geomorphology — Stream hierarchy classification for erosion control.</a:t>
            </a:r>
          </a:p>
          <a:p>
            <a:r>
              <a:t>•  European Space Agency (ESA Copernicus): Sentinel-2 MSI Multi-Spectral Instrument (10m Level-2A Surface Reflectance: NDVI &amp; NDWI McFeeters).</a:t>
            </a:r>
          </a:p>
          <a:p>
            <a:r>
              <a:t>•  ISRO &amp; NRSC: National Watershed Atlas &amp; Bhuvan Geospatial Hydrology Protocols.</a:t>
            </a:r>
          </a:p>
          <a:p>
            <a:r>
              <a:t>•  OpenFreeMap Project: Open-source Vector Tile Topographical Schemas and MapLibre GL Cartography Engine.</a:t>
            </a:r>
          </a:p>
          <a:p>
            <a:r>
              <a:t>3. Computer Vision Forensics, Sensor Pattern Noise &amp; Cryptography</a:t>
            </a:r>
          </a:p>
          <a:p>
            <a:r>
              <a:t>•  Lukas et al. (IEEE TIFS): Digital Camera Sensor Identification Using CMOS Photo-Response Non-Uniformity (PRNU) &amp; Bayer Noise Residuals.</a:t>
            </a:r>
          </a:p>
          <a:p>
            <a:r>
              <a:t>•  Corvi et al. (IEEE CVPR): On the Detection of Synthetic Diffusion Images Using High-Frequency Residual &amp; Optical Edge Analysis.</a:t>
            </a:r>
          </a:p>
          <a:p>
            <a:r>
              <a:t>•  NIST FIPS 180-4: Secure Hash Standard (SHA-256) for Tamper-Proof Electronic Evidence Certification.</a:t>
            </a:r>
          </a:p>
          <a:p>
            <a:r>
              <a:t>•  LoRa Alliance: LoRaWAN Link Layer Specification v1.0.4 for Long-Range Rural Micro-RTU Sensor Mesh Networks.</a:t>
            </a:r>
          </a:p>
        </p:txBody>
      </p:sp>
      <p:pic>
        <p:nvPicPr>
          <p:cNvPr id="10" name="object 11">
            <a:extLst>
              <a:ext uri="{FF2B5EF4-FFF2-40B4-BE49-F238E27FC236}">
                <a16:creationId xmlns:a16="http://schemas.microsoft.com/office/drawing/2014/main" id="{59EE2D49-98DE-4CB9-8E16-86EFD5141EE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7640" y="91025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1509</Words>
  <Application>Microsoft Office PowerPoint</Application>
  <PresentationFormat>Widescreen</PresentationFormat>
  <Paragraphs>165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ASUS</dc:creator>
  <cp:keywords/>
  <dc:description>generated using python-pptx</dc:description>
  <cp:lastModifiedBy>Kushal Shah</cp:lastModifiedBy>
  <cp:revision>2</cp:revision>
  <dcterms:created xsi:type="dcterms:W3CDTF">2013-01-27T09:14:16Z</dcterms:created>
  <dcterms:modified xsi:type="dcterms:W3CDTF">2026-09-30T04:21:47Z</dcterms:modified>
  <cp:category/>
</cp:coreProperties>
</file>